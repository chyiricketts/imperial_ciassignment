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80" r:id="rId3"/>
    <p:sldId id="258" r:id="rId4"/>
    <p:sldId id="266" r:id="rId5"/>
    <p:sldId id="281" r:id="rId6"/>
    <p:sldId id="259" r:id="rId7"/>
    <p:sldId id="261" r:id="rId8"/>
    <p:sldId id="263" r:id="rId9"/>
    <p:sldId id="265" r:id="rId10"/>
    <p:sldId id="269" r:id="rId11"/>
    <p:sldId id="271" r:id="rId12"/>
    <p:sldId id="272" r:id="rId13"/>
    <p:sldId id="276" r:id="rId14"/>
    <p:sldId id="277" r:id="rId15"/>
    <p:sldId id="260" r:id="rId16"/>
    <p:sldId id="279" r:id="rId17"/>
    <p:sldId id="283" r:id="rId18"/>
    <p:sldId id="282" r:id="rId19"/>
    <p:sldId id="284" r:id="rId20"/>
    <p:sldId id="26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941" autoAdjust="0"/>
  </p:normalViewPr>
  <p:slideViewPr>
    <p:cSldViewPr snapToGrid="0">
      <p:cViewPr varScale="1">
        <p:scale>
          <a:sx n="76" d="100"/>
          <a:sy n="76" d="100"/>
        </p:scale>
        <p:origin x="672" y="42"/>
      </p:cViewPr>
      <p:guideLst/>
    </p:cSldViewPr>
  </p:slideViewPr>
  <p:outlineViewPr>
    <p:cViewPr>
      <p:scale>
        <a:sx n="33" d="100"/>
        <a:sy n="33" d="100"/>
      </p:scale>
      <p:origin x="0" y="-271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23EC4A-3B8E-4147-9427-E98C6273D378}"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4FDD93-D5BB-4508-A3B1-1C7700D55ACE}" type="slidenum">
              <a:rPr lang="en-US" smtClean="0"/>
              <a:t>‹#›</a:t>
            </a:fld>
            <a:endParaRPr lang="en-US"/>
          </a:p>
        </p:txBody>
      </p:sp>
    </p:spTree>
    <p:extLst>
      <p:ext uri="{BB962C8B-B14F-4D97-AF65-F5344CB8AC3E}">
        <p14:creationId xmlns:p14="http://schemas.microsoft.com/office/powerpoint/2010/main" val="2263644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GBM is divided into Classical, Mesenchymal, </a:t>
            </a:r>
            <a:r>
              <a:rPr lang="en-US" dirty="0" err="1"/>
              <a:t>Proneural</a:t>
            </a:r>
            <a:r>
              <a:rPr lang="en-US" dirty="0"/>
              <a:t>, and Neural subtypes. Classical is EGFR-driven and proliferative; Mesenchymal is the most invasive with strong ECM and inflammatory signatures; </a:t>
            </a:r>
            <a:r>
              <a:rPr lang="en-US" dirty="0" err="1"/>
              <a:t>Proneural</a:t>
            </a:r>
            <a:r>
              <a:rPr lang="en-US" dirty="0"/>
              <a:t> is associated with PDGFRA (Platelet-Derived Growth Factor Receptor Alpha) and neural precursor markers; and Neural is high expression of neuronal markers, now known to be normal tissue contamination. My study found ARSI most strongly expressed in the Mesenchymal subtype.</a:t>
            </a:r>
          </a:p>
        </p:txBody>
      </p:sp>
      <p:sp>
        <p:nvSpPr>
          <p:cNvPr id="4" name="Slide Number Placeholder 3"/>
          <p:cNvSpPr>
            <a:spLocks noGrp="1"/>
          </p:cNvSpPr>
          <p:nvPr>
            <p:ph type="sldNum" sz="quarter" idx="5"/>
          </p:nvPr>
        </p:nvSpPr>
        <p:spPr/>
        <p:txBody>
          <a:bodyPr/>
          <a:lstStyle/>
          <a:p>
            <a:fld id="{794FDD93-D5BB-4508-A3B1-1C7700D55ACE}" type="slidenum">
              <a:rPr lang="en-US" smtClean="0"/>
              <a:t>2</a:t>
            </a:fld>
            <a:endParaRPr lang="en-US"/>
          </a:p>
        </p:txBody>
      </p:sp>
    </p:spTree>
    <p:extLst>
      <p:ext uri="{BB962C8B-B14F-4D97-AF65-F5344CB8AC3E}">
        <p14:creationId xmlns:p14="http://schemas.microsoft.com/office/powerpoint/2010/main" val="471226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Univariate analysis</a:t>
            </a:r>
          </a:p>
          <a:p>
            <a:pPr rtl="0" fontAlgn="base"/>
            <a:r>
              <a:rPr lang="en-US" sz="1200" b="0" i="0" u="none" strike="noStrike" kern="1200" dirty="0">
                <a:solidFill>
                  <a:schemeClr val="tx1"/>
                </a:solidFill>
                <a:effectLst/>
                <a:latin typeface="+mn-lt"/>
                <a:ea typeface="+mn-ea"/>
                <a:cs typeface="+mn-cs"/>
              </a:rPr>
              <a:t>Clinical Data correlation</a:t>
            </a:r>
          </a:p>
          <a:p>
            <a:pPr rtl="0" fontAlgn="base"/>
            <a:r>
              <a:rPr lang="en-US" sz="1200" b="0" i="0" u="none" strike="noStrike" kern="1200" dirty="0">
                <a:solidFill>
                  <a:schemeClr val="tx1"/>
                </a:solidFill>
                <a:effectLst/>
                <a:latin typeface="+mn-lt"/>
                <a:ea typeface="+mn-ea"/>
                <a:cs typeface="+mn-cs"/>
              </a:rPr>
              <a:t>Multivariate analysis (correcting for age)</a:t>
            </a:r>
          </a:p>
          <a:p>
            <a:pPr rtl="0" fontAlgn="base"/>
            <a:r>
              <a:rPr lang="en-US" sz="1200" b="0" i="0" u="none" strike="noStrike" kern="1200" dirty="0">
                <a:solidFill>
                  <a:schemeClr val="tx1"/>
                </a:solidFill>
                <a:effectLst/>
                <a:latin typeface="+mn-lt"/>
                <a:ea typeface="+mn-ea"/>
                <a:cs typeface="+mn-cs"/>
              </a:rPr>
              <a:t>Multivariate by subtype (need to change– </a:t>
            </a:r>
            <a:r>
              <a:rPr lang="en-US" sz="1200" b="0" i="0" u="none" strike="noStrike" kern="1200" dirty="0" err="1">
                <a:solidFill>
                  <a:schemeClr val="tx1"/>
                </a:solidFill>
                <a:effectLst/>
                <a:latin typeface="+mn-lt"/>
                <a:ea typeface="+mn-ea"/>
                <a:cs typeface="+mn-cs"/>
              </a:rPr>
              <a:t>rn</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i</a:t>
            </a:r>
            <a:r>
              <a:rPr lang="en-US" sz="1200" b="0" i="0" u="none" strike="noStrike" kern="1200" dirty="0">
                <a:solidFill>
                  <a:schemeClr val="tx1"/>
                </a:solidFill>
                <a:effectLst/>
                <a:latin typeface="+mn-lt"/>
                <a:ea typeface="+mn-ea"/>
                <a:cs typeface="+mn-cs"/>
              </a:rPr>
              <a:t> did univariate)</a:t>
            </a:r>
          </a:p>
          <a:p>
            <a:pPr lvl="1" rtl="0" fontAlgn="base"/>
            <a:r>
              <a:rPr lang="en-US" sz="1200" b="0" i="0" u="none" strike="noStrike" kern="1200" dirty="0">
                <a:solidFill>
                  <a:schemeClr val="tx1"/>
                </a:solidFill>
                <a:effectLst/>
                <a:latin typeface="+mn-lt"/>
                <a:ea typeface="+mn-ea"/>
                <a:cs typeface="+mn-cs"/>
              </a:rPr>
              <a:t>Multiple test correction</a:t>
            </a:r>
          </a:p>
          <a:p>
            <a:pPr rtl="0" fontAlgn="base"/>
            <a:r>
              <a:rPr lang="en-US" sz="1200" b="0" i="0" u="none" strike="noStrike" kern="1200" dirty="0">
                <a:solidFill>
                  <a:schemeClr val="tx1"/>
                </a:solidFill>
                <a:effectLst/>
                <a:latin typeface="+mn-lt"/>
                <a:ea typeface="+mn-ea"/>
                <a:cs typeface="+mn-cs"/>
              </a:rPr>
              <a:t>Expression boxplots by subtype</a:t>
            </a:r>
          </a:p>
          <a:p>
            <a:pPr rtl="0" fontAlgn="base"/>
            <a:r>
              <a:rPr lang="en-US" sz="1200" b="0" i="0" u="none" strike="noStrike" kern="1200" dirty="0">
                <a:solidFill>
                  <a:schemeClr val="tx1"/>
                </a:solidFill>
                <a:effectLst/>
                <a:latin typeface="+mn-lt"/>
                <a:ea typeface="+mn-ea"/>
                <a:cs typeface="+mn-cs"/>
              </a:rPr>
              <a:t>Methylation</a:t>
            </a:r>
          </a:p>
          <a:p>
            <a:pPr lvl="1" rtl="0" fontAlgn="base"/>
            <a:r>
              <a:rPr lang="en-US" sz="1200" b="0" i="0" u="none" strike="noStrike" kern="1200" dirty="0">
                <a:solidFill>
                  <a:schemeClr val="tx1"/>
                </a:solidFill>
                <a:effectLst/>
                <a:latin typeface="+mn-lt"/>
                <a:ea typeface="+mn-ea"/>
                <a:cs typeface="+mn-cs"/>
              </a:rPr>
              <a:t>Overall and mesenchymal</a:t>
            </a:r>
          </a:p>
          <a:p>
            <a:pPr rtl="0" fontAlgn="base"/>
            <a:r>
              <a:rPr lang="en-US" sz="1200" b="0" i="0" u="none" strike="noStrike" kern="1200" dirty="0">
                <a:solidFill>
                  <a:schemeClr val="tx1"/>
                </a:solidFill>
                <a:effectLst/>
                <a:latin typeface="+mn-lt"/>
                <a:ea typeface="+mn-ea"/>
                <a:cs typeface="+mn-cs"/>
              </a:rPr>
              <a:t>CNV</a:t>
            </a:r>
          </a:p>
          <a:p>
            <a:pPr lvl="1" rtl="0" fontAlgn="base"/>
            <a:r>
              <a:rPr lang="en-US" sz="1200" b="0" i="0" u="none" strike="noStrike" kern="1200" dirty="0">
                <a:solidFill>
                  <a:schemeClr val="tx1"/>
                </a:solidFill>
                <a:effectLst/>
                <a:latin typeface="+mn-lt"/>
                <a:ea typeface="+mn-ea"/>
                <a:cs typeface="+mn-cs"/>
              </a:rPr>
              <a:t>Overall and mesenchymal</a:t>
            </a:r>
          </a:p>
          <a:p>
            <a:pPr rtl="0" fontAlgn="base"/>
            <a:r>
              <a:rPr lang="en-US" sz="1200" b="0" i="0" u="none" strike="noStrike" kern="1200" dirty="0">
                <a:solidFill>
                  <a:schemeClr val="tx1"/>
                </a:solidFill>
                <a:effectLst/>
                <a:latin typeface="+mn-lt"/>
                <a:ea typeface="+mn-ea"/>
                <a:cs typeface="+mn-cs"/>
              </a:rPr>
              <a:t>Panels for</a:t>
            </a:r>
          </a:p>
          <a:p>
            <a:pPr lvl="1" rtl="0" fontAlgn="base"/>
            <a:r>
              <a:rPr lang="en-US" sz="1200" b="0" i="0" u="none" strike="noStrike" kern="1200" dirty="0">
                <a:solidFill>
                  <a:schemeClr val="tx1"/>
                </a:solidFill>
                <a:effectLst/>
                <a:latin typeface="+mn-lt"/>
                <a:ea typeface="+mn-ea"/>
                <a:cs typeface="+mn-cs"/>
              </a:rPr>
              <a:t>MES associated genes</a:t>
            </a:r>
          </a:p>
          <a:p>
            <a:pPr lvl="1" rtl="0" fontAlgn="base"/>
            <a:r>
              <a:rPr lang="en-US" sz="1200" b="0" i="0" u="none" strike="noStrike" kern="1200" dirty="0">
                <a:solidFill>
                  <a:schemeClr val="tx1"/>
                </a:solidFill>
                <a:effectLst/>
                <a:latin typeface="+mn-lt"/>
                <a:ea typeface="+mn-ea"/>
                <a:cs typeface="+mn-cs"/>
              </a:rPr>
              <a:t>ECM associated genes</a:t>
            </a:r>
          </a:p>
          <a:p>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3</a:t>
            </a:fld>
            <a:endParaRPr lang="en-US"/>
          </a:p>
        </p:txBody>
      </p:sp>
    </p:spTree>
    <p:extLst>
      <p:ext uri="{BB962C8B-B14F-4D97-AF65-F5344CB8AC3E}">
        <p14:creationId xmlns:p14="http://schemas.microsoft.com/office/powerpoint/2010/main" val="1921266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Treated primary GBM</a:t>
            </a:r>
          </a:p>
          <a:p>
            <a:r>
              <a:rPr lang="en-US" dirty="0"/>
              <a:t>GCIMP (Glioma-CpG Island Methylator Phenotype)</a:t>
            </a:r>
          </a:p>
        </p:txBody>
      </p:sp>
      <p:sp>
        <p:nvSpPr>
          <p:cNvPr id="4" name="Slide Number Placeholder 3"/>
          <p:cNvSpPr>
            <a:spLocks noGrp="1"/>
          </p:cNvSpPr>
          <p:nvPr>
            <p:ph type="sldNum" sz="quarter" idx="5"/>
          </p:nvPr>
        </p:nvSpPr>
        <p:spPr/>
        <p:txBody>
          <a:bodyPr/>
          <a:lstStyle/>
          <a:p>
            <a:fld id="{794FDD93-D5BB-4508-A3B1-1C7700D55ACE}" type="slidenum">
              <a:rPr lang="en-US" smtClean="0"/>
              <a:t>5</a:t>
            </a:fld>
            <a:endParaRPr lang="en-US"/>
          </a:p>
        </p:txBody>
      </p:sp>
    </p:spTree>
    <p:extLst>
      <p:ext uri="{BB962C8B-B14F-4D97-AF65-F5344CB8AC3E}">
        <p14:creationId xmlns:p14="http://schemas.microsoft.com/office/powerpoint/2010/main" val="2746544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TPM/FPKM: transcripts per million / </a:t>
            </a:r>
            <a:r>
              <a:rPr lang="en-US" dirty="0" err="1"/>
              <a:t>framents</a:t>
            </a:r>
            <a:r>
              <a:rPr lang="en-US" dirty="0"/>
              <a:t> per kilobase of transcript per million reads mapped</a:t>
            </a:r>
          </a:p>
        </p:txBody>
      </p:sp>
      <p:sp>
        <p:nvSpPr>
          <p:cNvPr id="4" name="Slide Number Placeholder 3"/>
          <p:cNvSpPr>
            <a:spLocks noGrp="1"/>
          </p:cNvSpPr>
          <p:nvPr>
            <p:ph type="sldNum" sz="quarter" idx="5"/>
          </p:nvPr>
        </p:nvSpPr>
        <p:spPr/>
        <p:txBody>
          <a:bodyPr/>
          <a:lstStyle/>
          <a:p>
            <a:fld id="{794FDD93-D5BB-4508-A3B1-1C7700D55ACE}" type="slidenum">
              <a:rPr lang="en-US" smtClean="0"/>
              <a:t>6</a:t>
            </a:fld>
            <a:endParaRPr lang="en-US"/>
          </a:p>
        </p:txBody>
      </p:sp>
    </p:spTree>
    <p:extLst>
      <p:ext uri="{BB962C8B-B14F-4D97-AF65-F5344CB8AC3E}">
        <p14:creationId xmlns:p14="http://schemas.microsoft.com/office/powerpoint/2010/main" val="3987987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7</a:t>
            </a:fld>
            <a:endParaRPr lang="en-US"/>
          </a:p>
        </p:txBody>
      </p:sp>
    </p:spTree>
    <p:extLst>
      <p:ext uri="{BB962C8B-B14F-4D97-AF65-F5344CB8AC3E}">
        <p14:creationId xmlns:p14="http://schemas.microsoft.com/office/powerpoint/2010/main" val="2877720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3 hits</a:t>
            </a:r>
          </a:p>
          <a:p>
            <a:r>
              <a:rPr lang="en-US" dirty="0"/>
              <a:t>A total of 12 were found and are included in the supplementary data</a:t>
            </a:r>
          </a:p>
          <a:p>
            <a:endParaRPr lang="en-US" dirty="0"/>
          </a:p>
          <a:p>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8</a:t>
            </a:fld>
            <a:endParaRPr lang="en-US"/>
          </a:p>
        </p:txBody>
      </p:sp>
    </p:spTree>
    <p:extLst>
      <p:ext uri="{BB962C8B-B14F-4D97-AF65-F5344CB8AC3E}">
        <p14:creationId xmlns:p14="http://schemas.microsoft.com/office/powerpoint/2010/main" val="778942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Mesenchymal: invasion, migration, and inflammation. Overall aggressive tumor behavior</a:t>
            </a:r>
          </a:p>
          <a:p>
            <a:r>
              <a:rPr lang="en-US" b="1" dirty="0"/>
              <a:t>ECM: structural components, matrix stiffness, ECM </a:t>
            </a:r>
            <a:r>
              <a:rPr lang="en-US" b="1" dirty="0" err="1"/>
              <a:t>degredation</a:t>
            </a:r>
            <a:endParaRPr lang="en-US" b="1" dirty="0"/>
          </a:p>
          <a:p>
            <a:endParaRPr lang="en-US" b="1" dirty="0"/>
          </a:p>
          <a:p>
            <a:r>
              <a:rPr lang="en-US" b="1" dirty="0"/>
              <a:t>Mesenchymal / ECM Panel Genes</a:t>
            </a:r>
          </a:p>
          <a:p>
            <a:r>
              <a:rPr lang="en-US" b="1" dirty="0"/>
              <a:t>CD44</a:t>
            </a:r>
          </a:p>
          <a:p>
            <a:r>
              <a:rPr lang="en-US" dirty="0"/>
              <a:t>A cell-surface adhesion receptor that promotes invasion and is a classic mesenchymal GBM marker.</a:t>
            </a:r>
          </a:p>
          <a:p>
            <a:r>
              <a:rPr lang="en-US" b="1" dirty="0"/>
              <a:t>CHI3L1 (YKL-40)</a:t>
            </a:r>
          </a:p>
          <a:p>
            <a:r>
              <a:rPr lang="en-US" dirty="0"/>
              <a:t>Secreted glycoprotein highly expressed in mesenchymal GBM; promotes inflammation, angiogenesis, and invasion.</a:t>
            </a:r>
          </a:p>
          <a:p>
            <a:r>
              <a:rPr lang="en-US" b="1" dirty="0"/>
              <a:t>MET</a:t>
            </a:r>
          </a:p>
          <a:p>
            <a:r>
              <a:rPr lang="en-US" dirty="0"/>
              <a:t>A receptor tyrosine kinase activated by HGF; drives cell migration, EMT-like behavior, and mesenchymal transition.</a:t>
            </a:r>
          </a:p>
          <a:p>
            <a:r>
              <a:rPr lang="en-US" b="1" dirty="0"/>
              <a:t>TGFB1</a:t>
            </a:r>
          </a:p>
          <a:p>
            <a:r>
              <a:rPr lang="en-US" dirty="0"/>
              <a:t>Cytokine that induces EMT/mesenchymal programs, immune suppression, and ECM remodeling.</a:t>
            </a:r>
          </a:p>
          <a:p>
            <a:r>
              <a:rPr lang="en-US" b="1" dirty="0"/>
              <a:t>THBS1 (Thrombospondin-1)</a:t>
            </a:r>
          </a:p>
          <a:p>
            <a:r>
              <a:rPr lang="en-US" dirty="0"/>
              <a:t>ECM glycoprotein that regulates cell–matrix interaction, angiogenesis, and invasion.</a:t>
            </a:r>
          </a:p>
          <a:p>
            <a:r>
              <a:rPr lang="en-US" b="1" dirty="0"/>
              <a:t>S100A10</a:t>
            </a:r>
          </a:p>
          <a:p>
            <a:r>
              <a:rPr lang="en-US" dirty="0"/>
              <a:t>Protein involved in plasmin activation; promotes matrix degradation and tumor cell migration.</a:t>
            </a:r>
          </a:p>
          <a:p>
            <a:r>
              <a:rPr lang="en-US" b="1" dirty="0"/>
              <a:t>COL6A1</a:t>
            </a:r>
          </a:p>
          <a:p>
            <a:r>
              <a:rPr lang="en-US" dirty="0"/>
              <a:t>Collagen VI component; structural ECM protein associated with tumor stiffness and invasion.</a:t>
            </a:r>
          </a:p>
          <a:p>
            <a:r>
              <a:rPr lang="en-US" b="1" dirty="0"/>
              <a:t>COL1A1</a:t>
            </a:r>
          </a:p>
          <a:p>
            <a:r>
              <a:rPr lang="en-US" dirty="0"/>
              <a:t>Major collagen type I gene; increases ECM density and supports invasive tumor microenvironments.</a:t>
            </a:r>
          </a:p>
          <a:p>
            <a:r>
              <a:rPr lang="en-US" b="1" dirty="0"/>
              <a:t>FN1 (Fibronectin 1)</a:t>
            </a:r>
          </a:p>
          <a:p>
            <a:r>
              <a:rPr lang="en-US" dirty="0"/>
              <a:t>Key ECM adhesion protein; hallmark of mesenchymal states and promotes migration.</a:t>
            </a:r>
          </a:p>
          <a:p>
            <a:r>
              <a:rPr lang="en-US" b="1" dirty="0"/>
              <a:t>VCAN (</a:t>
            </a:r>
            <a:r>
              <a:rPr lang="en-US" b="1" dirty="0" err="1"/>
              <a:t>Versican</a:t>
            </a:r>
            <a:r>
              <a:rPr lang="en-US" b="1" dirty="0"/>
              <a:t>)</a:t>
            </a:r>
          </a:p>
          <a:p>
            <a:r>
              <a:rPr lang="en-US" dirty="0"/>
              <a:t>Large ECM proteoglycan that alters matrix structure and boosts motility and mesenchymal signaling.</a:t>
            </a:r>
          </a:p>
          <a:p>
            <a:r>
              <a:rPr lang="en-US" b="1" dirty="0"/>
              <a:t>MMP2</a:t>
            </a:r>
          </a:p>
          <a:p>
            <a:r>
              <a:rPr lang="en-US" dirty="0"/>
              <a:t>Matrix metalloproteinase that degrades basement membrane and ECM; enables invasion.</a:t>
            </a:r>
          </a:p>
          <a:p>
            <a:r>
              <a:rPr lang="en-US" b="1" dirty="0"/>
              <a:t>TIMP1</a:t>
            </a:r>
          </a:p>
          <a:p>
            <a:r>
              <a:rPr lang="en-US" dirty="0"/>
              <a:t>Inhibits MMPs but paradoxically often promotes tumor survival, proliferation, and ECM remodeling.</a:t>
            </a:r>
          </a:p>
          <a:p>
            <a:r>
              <a:rPr lang="en-US" b="1" dirty="0"/>
              <a:t>LAMA4 (Laminin </a:t>
            </a:r>
            <a:r>
              <a:rPr lang="el-GR" b="1" dirty="0"/>
              <a:t>α4)</a:t>
            </a:r>
          </a:p>
          <a:p>
            <a:r>
              <a:rPr lang="en-US" dirty="0"/>
              <a:t>Basement membrane protein; facilitates adhesion, migration, and angiogenesis.</a:t>
            </a:r>
          </a:p>
          <a:p>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11</a:t>
            </a:fld>
            <a:endParaRPr lang="en-US"/>
          </a:p>
        </p:txBody>
      </p:sp>
    </p:spTree>
    <p:extLst>
      <p:ext uri="{BB962C8B-B14F-4D97-AF65-F5344CB8AC3E}">
        <p14:creationId xmlns:p14="http://schemas.microsoft.com/office/powerpoint/2010/main" val="3550954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12</a:t>
            </a:fld>
            <a:endParaRPr lang="en-US"/>
          </a:p>
        </p:txBody>
      </p:sp>
    </p:spTree>
    <p:extLst>
      <p:ext uri="{BB962C8B-B14F-4D97-AF65-F5344CB8AC3E}">
        <p14:creationId xmlns:p14="http://schemas.microsoft.com/office/powerpoint/2010/main" val="531175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Behnan J, Finocchiaro G, Hanna G. The landscape of the mesenchymal signature in brain </a:t>
            </a:r>
            <a:r>
              <a:rPr lang="en-US" sz="1200" kern="1200" dirty="0" err="1">
                <a:solidFill>
                  <a:schemeClr val="tx1"/>
                </a:solidFill>
                <a:effectLst/>
                <a:latin typeface="+mn-lt"/>
                <a:ea typeface="+mn-ea"/>
                <a:cs typeface="+mn-cs"/>
              </a:rPr>
              <a:t>tumours</a:t>
            </a:r>
            <a:r>
              <a:rPr lang="en-US" sz="1200" kern="1200" dirty="0">
                <a:solidFill>
                  <a:schemeClr val="tx1"/>
                </a:solidFill>
                <a:effectLst/>
                <a:latin typeface="+mn-lt"/>
                <a:ea typeface="+mn-ea"/>
                <a:cs typeface="+mn-cs"/>
              </a:rPr>
              <a:t>. Brain. 2019 Apr 1;142(4):847-866. </a:t>
            </a:r>
            <a:r>
              <a:rPr lang="en-US" sz="1200" kern="1200" dirty="0" err="1">
                <a:solidFill>
                  <a:schemeClr val="tx1"/>
                </a:solidFill>
                <a:effectLst/>
                <a:latin typeface="+mn-lt"/>
                <a:ea typeface="+mn-ea"/>
                <a:cs typeface="+mn-cs"/>
              </a:rPr>
              <a:t>doi</a:t>
            </a:r>
            <a:r>
              <a:rPr lang="en-US" sz="1200" kern="1200" dirty="0">
                <a:solidFill>
                  <a:schemeClr val="tx1"/>
                </a:solidFill>
                <a:effectLst/>
                <a:latin typeface="+mn-lt"/>
                <a:ea typeface="+mn-ea"/>
                <a:cs typeface="+mn-cs"/>
              </a:rPr>
              <a:t>: 10.1093/brain/awz044. PMID: 30946477; PMCID: PMC6485274.</a:t>
            </a:r>
          </a:p>
          <a:p>
            <a:br>
              <a:rPr lang="en-US" dirty="0">
                <a:effectLst/>
              </a:rPr>
            </a:br>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15</a:t>
            </a:fld>
            <a:endParaRPr lang="en-US"/>
          </a:p>
        </p:txBody>
      </p:sp>
    </p:spTree>
    <p:extLst>
      <p:ext uri="{BB962C8B-B14F-4D97-AF65-F5344CB8AC3E}">
        <p14:creationId xmlns:p14="http://schemas.microsoft.com/office/powerpoint/2010/main" val="616197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16</a:t>
            </a:fld>
            <a:endParaRPr lang="en-US"/>
          </a:p>
        </p:txBody>
      </p:sp>
    </p:spTree>
    <p:extLst>
      <p:ext uri="{BB962C8B-B14F-4D97-AF65-F5344CB8AC3E}">
        <p14:creationId xmlns:p14="http://schemas.microsoft.com/office/powerpoint/2010/main" val="1409811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94FDD93-D5BB-4508-A3B1-1C7700D55ACE}" type="slidenum">
              <a:rPr lang="en-US" smtClean="0"/>
              <a:t>20</a:t>
            </a:fld>
            <a:endParaRPr lang="en-US"/>
          </a:p>
        </p:txBody>
      </p:sp>
    </p:spTree>
    <p:extLst>
      <p:ext uri="{BB962C8B-B14F-4D97-AF65-F5344CB8AC3E}">
        <p14:creationId xmlns:p14="http://schemas.microsoft.com/office/powerpoint/2010/main" val="128793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9897-225F-4F2B-C212-91D4D8A8AD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83F2E-9C9E-83A5-A496-C01DA0B5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E7328B-C383-35B2-260E-7D05238BE8D1}"/>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5" name="Footer Placeholder 4">
            <a:extLst>
              <a:ext uri="{FF2B5EF4-FFF2-40B4-BE49-F238E27FC236}">
                <a16:creationId xmlns:a16="http://schemas.microsoft.com/office/drawing/2014/main" id="{338FFC3F-AF9F-9170-59BF-F73EF9BAB3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EBCC97-F606-DEE9-45D7-91E750D28362}"/>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1949661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E9C5-1BC1-0B7D-A2B2-EAC7AD30AF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AC29EB-3966-46B6-94E4-9CBCD76DB2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CAA87-AB34-11AB-A547-0646CC29AE80}"/>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5" name="Footer Placeholder 4">
            <a:extLst>
              <a:ext uri="{FF2B5EF4-FFF2-40B4-BE49-F238E27FC236}">
                <a16:creationId xmlns:a16="http://schemas.microsoft.com/office/drawing/2014/main" id="{2D5A3852-7AC2-2BAE-F983-2A9F7D020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E19EF-2C4C-DCEE-B584-D70656C7B7D9}"/>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3165547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831E4-EBC7-7D6B-0DE9-7C06FFBAC7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6E49C4-0106-6AAD-4933-0A98C377AF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30EA27-CC89-4439-64D7-5A0C67304564}"/>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5" name="Footer Placeholder 4">
            <a:extLst>
              <a:ext uri="{FF2B5EF4-FFF2-40B4-BE49-F238E27FC236}">
                <a16:creationId xmlns:a16="http://schemas.microsoft.com/office/drawing/2014/main" id="{8C706C0C-D524-CE59-F9BC-F8EA117868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02B2B-5D7B-9732-4C46-AF6298947201}"/>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2361011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C631B-56B7-E05A-9DDC-CB95F1881B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FA4A95-5D07-F6D2-08ED-CAB6D85089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3A40D3-DCA2-1907-4FEE-4075A6ACCE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71D55-6CE5-B00C-7279-D1A18A56EC1E}"/>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6" name="Footer Placeholder 5">
            <a:extLst>
              <a:ext uri="{FF2B5EF4-FFF2-40B4-BE49-F238E27FC236}">
                <a16:creationId xmlns:a16="http://schemas.microsoft.com/office/drawing/2014/main" id="{8FAAD33A-C481-82DF-3731-F105CA8ED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55A4A-CFD4-FEEE-6A7E-F88398A55D80}"/>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2302537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AF334-3203-CD50-8363-B2830EAA7F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A49F6A-C58F-B8FC-181B-96A81CE660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798424-63BA-9BDC-F884-6A84309624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9A1EA0-B4C6-0D48-2D6B-D0108DD08B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78A2E2-5BE6-6873-F949-2E6D0568EC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A1457F-47AB-FCFF-F013-83518A631AE6}"/>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8" name="Footer Placeholder 7">
            <a:extLst>
              <a:ext uri="{FF2B5EF4-FFF2-40B4-BE49-F238E27FC236}">
                <a16:creationId xmlns:a16="http://schemas.microsoft.com/office/drawing/2014/main" id="{AB7CB365-752F-69F0-414D-DC63967B50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CFBB18-3AFE-4F78-EB72-43FF1B13D001}"/>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2155424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1C21-A247-F7EC-1D00-AC576CAC1C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9D0850-9594-077A-7817-F536F03463E8}"/>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4" name="Footer Placeholder 3">
            <a:extLst>
              <a:ext uri="{FF2B5EF4-FFF2-40B4-BE49-F238E27FC236}">
                <a16:creationId xmlns:a16="http://schemas.microsoft.com/office/drawing/2014/main" id="{0F8B6FEC-8F3C-AF93-4FE7-E620ACC7E2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A7A712-0A3D-EC2C-A425-D575753BA630}"/>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1666519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97B57E-3EC9-2038-FC2A-3269050B6225}"/>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3" name="Footer Placeholder 2">
            <a:extLst>
              <a:ext uri="{FF2B5EF4-FFF2-40B4-BE49-F238E27FC236}">
                <a16:creationId xmlns:a16="http://schemas.microsoft.com/office/drawing/2014/main" id="{F54F07F3-58E0-644A-82C9-4FF03148B5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9FD066-C046-6D28-DCEC-51C2CC17DCE6}"/>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4035813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22375-F58E-DDA2-79A7-4C777E9ACE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DCE353-F438-6EA6-21FC-A47C4720D2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C2A99E-5669-EB88-421C-B28D79DCA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81205-86E8-C51D-6DD3-B7C3F9109949}"/>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6" name="Footer Placeholder 5">
            <a:extLst>
              <a:ext uri="{FF2B5EF4-FFF2-40B4-BE49-F238E27FC236}">
                <a16:creationId xmlns:a16="http://schemas.microsoft.com/office/drawing/2014/main" id="{8E6B4BAE-2F8A-1E75-6560-8F5D67CD2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221428-60A5-96AD-6754-4E3E13FD5DB9}"/>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2365721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AF17E-2A84-8108-E97A-0DA97D59B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D2092D-88FA-6CF2-CFDA-B6FB1F4D99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694E26-0E4D-ACCA-62D3-DD0A62D49F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4C266-FB73-B8D8-6442-277CE173D9B2}"/>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6" name="Footer Placeholder 5">
            <a:extLst>
              <a:ext uri="{FF2B5EF4-FFF2-40B4-BE49-F238E27FC236}">
                <a16:creationId xmlns:a16="http://schemas.microsoft.com/office/drawing/2014/main" id="{89757F07-FC8E-AD8D-C2E8-737CC15B2F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424F1D-3977-AEF0-777C-7376277AFBD7}"/>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446978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7BF7C-7A42-18B4-03CE-15BE2CA430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F7D25A-02A1-D959-3497-051D220BE4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1FB4B9-41BB-5A7E-739E-841E6CA7666F}"/>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5" name="Footer Placeholder 4">
            <a:extLst>
              <a:ext uri="{FF2B5EF4-FFF2-40B4-BE49-F238E27FC236}">
                <a16:creationId xmlns:a16="http://schemas.microsoft.com/office/drawing/2014/main" id="{0EC3BD5C-71A9-BB80-F6DC-B4E42BCEA9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D244B2-1ECB-1151-09E6-EA736A627347}"/>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1115086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6A68F7-6FB6-5AB5-571A-50BE91DAAC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A04240-11CA-C4B0-1F75-92AC444B27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68A0E5-7CFC-8204-B446-CE477D3BB94F}"/>
              </a:ext>
            </a:extLst>
          </p:cNvPr>
          <p:cNvSpPr>
            <a:spLocks noGrp="1"/>
          </p:cNvSpPr>
          <p:nvPr>
            <p:ph type="dt" sz="half" idx="10"/>
          </p:nvPr>
        </p:nvSpPr>
        <p:spPr/>
        <p:txBody>
          <a:bodyPr/>
          <a:lstStyle/>
          <a:p>
            <a:fld id="{37FC1C3C-FF07-40E6-9B21-45A0482FCFAB}" type="datetimeFigureOut">
              <a:rPr lang="en-US" smtClean="0"/>
              <a:t>12/5/2025</a:t>
            </a:fld>
            <a:endParaRPr lang="en-US"/>
          </a:p>
        </p:txBody>
      </p:sp>
      <p:sp>
        <p:nvSpPr>
          <p:cNvPr id="5" name="Footer Placeholder 4">
            <a:extLst>
              <a:ext uri="{FF2B5EF4-FFF2-40B4-BE49-F238E27FC236}">
                <a16:creationId xmlns:a16="http://schemas.microsoft.com/office/drawing/2014/main" id="{5159FCAF-4CC2-D0D8-8C67-B7B3AE603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D5120-79B8-34C3-F49F-CF5248C5B4D7}"/>
              </a:ext>
            </a:extLst>
          </p:cNvPr>
          <p:cNvSpPr>
            <a:spLocks noGrp="1"/>
          </p:cNvSpPr>
          <p:nvPr>
            <p:ph type="sldNum" sz="quarter" idx="12"/>
          </p:nvPr>
        </p:nvSpPr>
        <p:spPr/>
        <p:txBody>
          <a:bodyPr/>
          <a:lstStyle/>
          <a:p>
            <a:fld id="{32A85B27-6880-4E16-ACED-28E7B003A53C}" type="slidenum">
              <a:rPr lang="en-US" smtClean="0"/>
              <a:t>‹#›</a:t>
            </a:fld>
            <a:endParaRPr lang="en-US"/>
          </a:p>
        </p:txBody>
      </p:sp>
    </p:spTree>
    <p:extLst>
      <p:ext uri="{BB962C8B-B14F-4D97-AF65-F5344CB8AC3E}">
        <p14:creationId xmlns:p14="http://schemas.microsoft.com/office/powerpoint/2010/main" val="409507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1068A4-EEA1-1F88-06A8-AEAD1BE01B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DF3918-8788-9332-7A09-FBEB548532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C02AC-138B-3CD8-F618-D93BA807BD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FC1C3C-FF07-40E6-9B21-45A0482FCFAB}" type="datetimeFigureOut">
              <a:rPr lang="en-US" smtClean="0"/>
              <a:t>12/5/2025</a:t>
            </a:fld>
            <a:endParaRPr lang="en-US"/>
          </a:p>
        </p:txBody>
      </p:sp>
      <p:sp>
        <p:nvSpPr>
          <p:cNvPr id="5" name="Footer Placeholder 4">
            <a:extLst>
              <a:ext uri="{FF2B5EF4-FFF2-40B4-BE49-F238E27FC236}">
                <a16:creationId xmlns:a16="http://schemas.microsoft.com/office/drawing/2014/main" id="{4B353EC9-09F5-7F55-B446-E30E72B32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C613B5-49AB-5117-F188-2F87D005BE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A85B27-6880-4E16-ACED-28E7B003A53C}" type="slidenum">
              <a:rPr lang="en-US" smtClean="0"/>
              <a:t>‹#›</a:t>
            </a:fld>
            <a:endParaRPr lang="en-US"/>
          </a:p>
        </p:txBody>
      </p:sp>
    </p:spTree>
    <p:extLst>
      <p:ext uri="{BB962C8B-B14F-4D97-AF65-F5344CB8AC3E}">
        <p14:creationId xmlns:p14="http://schemas.microsoft.com/office/powerpoint/2010/main" val="3221293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oncotarget.com/article/3365/tex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xenabrowser.net/datapages/?dataset=TCGA.GBM.sampleMap%2FRPPA&amp;host=https%3A%2F%2Ftcga.xenahubs.net&amp;removeHub=https%3A%2F%2Fxena.treehouse.gi.ucsc.edu%3A443" TargetMode="External"/><Relationship Id="rId3" Type="http://schemas.openxmlformats.org/officeDocument/2006/relationships/hyperlink" Target="https://xenabrowser.net/datapages/?cohort=TCGA%20Glioblastoma%20(GBM)&amp;removeHub=https%3A%2F%2Fxena.treehouse.gi.ucsc.edu%3A443" TargetMode="External"/><Relationship Id="rId7" Type="http://schemas.openxmlformats.org/officeDocument/2006/relationships/hyperlink" Target="https://xenabrowser.net/datapages/?dataset=TCGA.GBM.sampleMap%2FHumanMethylation450&amp;host=https%3A%2F%2Ftcga.xenahubs.net&amp;removeHub=https%3A%2F%2Fxena.treehouse.gi.ucsc.edu%3A443"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xenabrowser.net/datapages/?dataset=TCGA.GBM.sampleMap%2FGBM_clinicalMatrix&amp;host=https%3A%2F%2Ftcga.xenahubs.net&amp;removeHub=https%3A%2F%2Fxena.treehouse.gi.ucsc.edu%3A443" TargetMode="External"/><Relationship Id="rId5" Type="http://schemas.openxmlformats.org/officeDocument/2006/relationships/hyperlink" Target="https://xenabrowser.net/datapages/?dataset=survival%2FGBM_survival.txt&amp;host=https%3A%2F%2Ftcga.xenahubs.net&amp;removeHub=https%3A%2F%2Fxena.treehouse.gi.ucsc.edu%3A443" TargetMode="External"/><Relationship Id="rId4" Type="http://schemas.openxmlformats.org/officeDocument/2006/relationships/hyperlink" Target="https://xenabrowser.net/datapages/?dataset=TCGA.GBM.sampleMap%2FHiSeqV2&amp;host=https%3A%2F%2Ftcga.xenahubs.net&amp;removeHub=https%3A%2F%2Fxena.treehouse.gi.ucsc.edu%3A44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64145D-B270-5376-C234-D48D9518A6AC}"/>
              </a:ext>
            </a:extLst>
          </p:cNvPr>
          <p:cNvSpPr>
            <a:spLocks noGrp="1"/>
          </p:cNvSpPr>
          <p:nvPr>
            <p:ph type="ctrTitle"/>
          </p:nvPr>
        </p:nvSpPr>
        <p:spPr>
          <a:xfrm>
            <a:off x="838200" y="451381"/>
            <a:ext cx="10512552" cy="4066540"/>
          </a:xfrm>
        </p:spPr>
        <p:txBody>
          <a:bodyPr anchor="b">
            <a:normAutofit/>
          </a:bodyPr>
          <a:lstStyle/>
          <a:p>
            <a:pPr algn="l"/>
            <a:r>
              <a:rPr lang="en-US" sz="6600" dirty="0"/>
              <a:t>ARSI as a potential novel biomarker in Glioblastomas</a:t>
            </a:r>
          </a:p>
        </p:txBody>
      </p:sp>
      <p:sp>
        <p:nvSpPr>
          <p:cNvPr id="3" name="Subtitle 2">
            <a:extLst>
              <a:ext uri="{FF2B5EF4-FFF2-40B4-BE49-F238E27FC236}">
                <a16:creationId xmlns:a16="http://schemas.microsoft.com/office/drawing/2014/main" id="{286288ED-8EEC-CB7F-F190-BAB29D387BD1}"/>
              </a:ext>
            </a:extLst>
          </p:cNvPr>
          <p:cNvSpPr>
            <a:spLocks noGrp="1"/>
          </p:cNvSpPr>
          <p:nvPr>
            <p:ph type="subTitle" idx="1"/>
          </p:nvPr>
        </p:nvSpPr>
        <p:spPr>
          <a:xfrm>
            <a:off x="838199" y="4983276"/>
            <a:ext cx="10512552" cy="1126680"/>
          </a:xfrm>
        </p:spPr>
        <p:txBody>
          <a:bodyPr>
            <a:normAutofit/>
          </a:bodyPr>
          <a:lstStyle/>
          <a:p>
            <a:pPr algn="l"/>
            <a:r>
              <a:rPr lang="en-US" dirty="0"/>
              <a:t>Chyi Ricketts</a:t>
            </a:r>
          </a:p>
          <a:p>
            <a:pPr algn="l"/>
            <a:r>
              <a:rPr lang="en-US" sz="1800" dirty="0"/>
              <a:t>CI Assignment</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53876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16B28-6D28-BD8A-ED31-99E185E51645}"/>
              </a:ext>
            </a:extLst>
          </p:cNvPr>
          <p:cNvSpPr>
            <a:spLocks noGrp="1"/>
          </p:cNvSpPr>
          <p:nvPr>
            <p:ph type="title"/>
          </p:nvPr>
        </p:nvSpPr>
        <p:spPr>
          <a:xfrm>
            <a:off x="2468783" y="681037"/>
            <a:ext cx="7254433" cy="864799"/>
          </a:xfrm>
        </p:spPr>
        <p:txBody>
          <a:bodyPr/>
          <a:lstStyle/>
          <a:p>
            <a:pPr algn="ctr"/>
            <a:r>
              <a:rPr lang="en-US" dirty="0"/>
              <a:t>Glioblastoma</a:t>
            </a:r>
          </a:p>
        </p:txBody>
      </p:sp>
      <p:sp>
        <p:nvSpPr>
          <p:cNvPr id="3" name="Content Placeholder 2">
            <a:extLst>
              <a:ext uri="{FF2B5EF4-FFF2-40B4-BE49-F238E27FC236}">
                <a16:creationId xmlns:a16="http://schemas.microsoft.com/office/drawing/2014/main" id="{A4BF82F0-00DC-B81B-452F-99B3374712FA}"/>
              </a:ext>
            </a:extLst>
          </p:cNvPr>
          <p:cNvSpPr>
            <a:spLocks noGrp="1"/>
          </p:cNvSpPr>
          <p:nvPr>
            <p:ph idx="1"/>
          </p:nvPr>
        </p:nvSpPr>
        <p:spPr/>
        <p:txBody>
          <a:bodyPr/>
          <a:lstStyle/>
          <a:p>
            <a:r>
              <a:rPr lang="en-US" dirty="0"/>
              <a:t>Glioblastoma (GBM) is the most aggressive primary brain tumor with poor survival despite standard therapy</a:t>
            </a:r>
          </a:p>
          <a:p>
            <a:pPr lvl="1"/>
            <a:r>
              <a:rPr lang="en-US" dirty="0"/>
              <a:t>Type IV</a:t>
            </a:r>
          </a:p>
          <a:p>
            <a:pPr lvl="1"/>
            <a:r>
              <a:rPr lang="en-US" dirty="0"/>
              <a:t>Incidence rate around 3 per 100,000 people</a:t>
            </a:r>
          </a:p>
          <a:p>
            <a:pPr lvl="1"/>
            <a:r>
              <a:rPr lang="en-US" dirty="0"/>
              <a:t>5-year survival rate is only 6.8%</a:t>
            </a:r>
          </a:p>
          <a:p>
            <a:r>
              <a:rPr lang="en-US" dirty="0"/>
              <a:t>Molecular profiling defines key subtypes: </a:t>
            </a:r>
          </a:p>
          <a:p>
            <a:pPr lvl="1"/>
            <a:r>
              <a:rPr lang="en-US" dirty="0"/>
              <a:t>Classical</a:t>
            </a:r>
          </a:p>
          <a:p>
            <a:pPr lvl="1"/>
            <a:r>
              <a:rPr lang="en-US" dirty="0"/>
              <a:t>Mesenchymal</a:t>
            </a:r>
          </a:p>
          <a:p>
            <a:pPr lvl="1"/>
            <a:r>
              <a:rPr lang="en-US" dirty="0" err="1"/>
              <a:t>Proneural</a:t>
            </a:r>
            <a:endParaRPr lang="en-US" dirty="0"/>
          </a:p>
          <a:p>
            <a:pPr lvl="1"/>
            <a:r>
              <a:rPr lang="en-US" dirty="0"/>
              <a:t>Neural</a:t>
            </a:r>
          </a:p>
        </p:txBody>
      </p:sp>
      <p:pic>
        <p:nvPicPr>
          <p:cNvPr id="3074" name="Picture 2" descr="Glioblastoma - Symptoms and causes - Mayo Clinic">
            <a:extLst>
              <a:ext uri="{FF2B5EF4-FFF2-40B4-BE49-F238E27FC236}">
                <a16:creationId xmlns:a16="http://schemas.microsoft.com/office/drawing/2014/main" id="{8B861B38-4E6A-1D62-E749-62CAF7718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2875" y="3019908"/>
            <a:ext cx="4429125" cy="3356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929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5ED0-497D-F006-A725-66626FD67AEB}"/>
              </a:ext>
            </a:extLst>
          </p:cNvPr>
          <p:cNvSpPr>
            <a:spLocks noGrp="1"/>
          </p:cNvSpPr>
          <p:nvPr>
            <p:ph type="title"/>
          </p:nvPr>
        </p:nvSpPr>
        <p:spPr/>
        <p:txBody>
          <a:bodyPr/>
          <a:lstStyle/>
          <a:p>
            <a:r>
              <a:rPr lang="en-US" dirty="0"/>
              <a:t>Methods</a:t>
            </a:r>
          </a:p>
        </p:txBody>
      </p:sp>
      <p:sp>
        <p:nvSpPr>
          <p:cNvPr id="4" name="Rectangle: Rounded Corners 3">
            <a:extLst>
              <a:ext uri="{FF2B5EF4-FFF2-40B4-BE49-F238E27FC236}">
                <a16:creationId xmlns:a16="http://schemas.microsoft.com/office/drawing/2014/main" id="{F62E7714-C740-E936-91EB-798CFC7DEBD4}"/>
              </a:ext>
            </a:extLst>
          </p:cNvPr>
          <p:cNvSpPr/>
          <p:nvPr/>
        </p:nvSpPr>
        <p:spPr>
          <a:xfrm>
            <a:off x="673610" y="1473116"/>
            <a:ext cx="2260121" cy="481835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Data Collection and Preprocessing using</a:t>
            </a:r>
          </a:p>
          <a:p>
            <a:pPr algn="ctr"/>
            <a:r>
              <a:rPr lang="en-US" dirty="0">
                <a:solidFill>
                  <a:schemeClr val="tx1"/>
                </a:solidFill>
                <a:latin typeface="Times New Roman" panose="02020603050405020304" pitchFamily="18" charset="0"/>
                <a:cs typeface="Times New Roman" panose="02020603050405020304" pitchFamily="18" charset="0"/>
              </a:rPr>
              <a:t>TCGA GBM Data</a:t>
            </a:r>
          </a:p>
          <a:p>
            <a:pPr algn="ct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68097AE2-3BB7-DF09-98DD-AE76B3C735CE}"/>
              </a:ext>
            </a:extLst>
          </p:cNvPr>
          <p:cNvSpPr/>
          <p:nvPr/>
        </p:nvSpPr>
        <p:spPr>
          <a:xfrm>
            <a:off x="3334047" y="1473115"/>
            <a:ext cx="2260121" cy="13255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Univariate Analysis</a:t>
            </a:r>
          </a:p>
        </p:txBody>
      </p:sp>
      <p:sp>
        <p:nvSpPr>
          <p:cNvPr id="6" name="Rectangle: Rounded Corners 5">
            <a:extLst>
              <a:ext uri="{FF2B5EF4-FFF2-40B4-BE49-F238E27FC236}">
                <a16:creationId xmlns:a16="http://schemas.microsoft.com/office/drawing/2014/main" id="{88375B90-6CF0-0533-B16A-07735352DF3A}"/>
              </a:ext>
            </a:extLst>
          </p:cNvPr>
          <p:cNvSpPr/>
          <p:nvPr/>
        </p:nvSpPr>
        <p:spPr>
          <a:xfrm>
            <a:off x="3334047" y="4725749"/>
            <a:ext cx="2266935" cy="156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Multivariate Analysis</a:t>
            </a:r>
          </a:p>
          <a:p>
            <a:pPr algn="ctr"/>
            <a:r>
              <a:rPr lang="en-US" dirty="0">
                <a:latin typeface="Times New Roman" panose="02020603050405020304" pitchFamily="18" charset="0"/>
                <a:cs typeface="Times New Roman" panose="02020603050405020304" pitchFamily="18" charset="0"/>
              </a:rPr>
              <a:t>by Subtype</a:t>
            </a:r>
          </a:p>
        </p:txBody>
      </p:sp>
      <p:sp>
        <p:nvSpPr>
          <p:cNvPr id="3" name="Rectangle: Rounded Corners 2">
            <a:extLst>
              <a:ext uri="{FF2B5EF4-FFF2-40B4-BE49-F238E27FC236}">
                <a16:creationId xmlns:a16="http://schemas.microsoft.com/office/drawing/2014/main" id="{9964A4DF-2EBF-23DF-2066-7005F779ABFC}"/>
              </a:ext>
            </a:extLst>
          </p:cNvPr>
          <p:cNvSpPr/>
          <p:nvPr/>
        </p:nvSpPr>
        <p:spPr>
          <a:xfrm>
            <a:off x="5881402" y="1494783"/>
            <a:ext cx="2590959" cy="2284198"/>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Copy Number Variation Analysis</a:t>
            </a:r>
          </a:p>
        </p:txBody>
      </p:sp>
      <p:sp>
        <p:nvSpPr>
          <p:cNvPr id="7" name="Rectangle: Rounded Corners 6">
            <a:extLst>
              <a:ext uri="{FF2B5EF4-FFF2-40B4-BE49-F238E27FC236}">
                <a16:creationId xmlns:a16="http://schemas.microsoft.com/office/drawing/2014/main" id="{39005FFF-4F7D-B8A7-924A-7C344AB3A74C}"/>
              </a:ext>
            </a:extLst>
          </p:cNvPr>
          <p:cNvSpPr/>
          <p:nvPr/>
        </p:nvSpPr>
        <p:spPr>
          <a:xfrm>
            <a:off x="5881402" y="4007271"/>
            <a:ext cx="2590959" cy="2284198"/>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Methylation Probe Analysis</a:t>
            </a:r>
          </a:p>
        </p:txBody>
      </p:sp>
      <p:sp>
        <p:nvSpPr>
          <p:cNvPr id="8" name="Rectangle: Rounded Corners 7">
            <a:extLst>
              <a:ext uri="{FF2B5EF4-FFF2-40B4-BE49-F238E27FC236}">
                <a16:creationId xmlns:a16="http://schemas.microsoft.com/office/drawing/2014/main" id="{4B5966B9-E70F-3447-5633-7C0D1AC1D5BD}"/>
              </a:ext>
            </a:extLst>
          </p:cNvPr>
          <p:cNvSpPr/>
          <p:nvPr/>
        </p:nvSpPr>
        <p:spPr>
          <a:xfrm flipH="1">
            <a:off x="8762841" y="3983578"/>
            <a:ext cx="2590959" cy="229054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RPPA dataset</a:t>
            </a:r>
          </a:p>
        </p:txBody>
      </p:sp>
      <p:sp>
        <p:nvSpPr>
          <p:cNvPr id="9" name="Rectangle: Rounded Corners 8">
            <a:extLst>
              <a:ext uri="{FF2B5EF4-FFF2-40B4-BE49-F238E27FC236}">
                <a16:creationId xmlns:a16="http://schemas.microsoft.com/office/drawing/2014/main" id="{41B27E1F-01D0-DE53-3B1B-801F3335C04E}"/>
              </a:ext>
            </a:extLst>
          </p:cNvPr>
          <p:cNvSpPr/>
          <p:nvPr/>
        </p:nvSpPr>
        <p:spPr>
          <a:xfrm>
            <a:off x="8759595" y="1494783"/>
            <a:ext cx="2590958" cy="2284197"/>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ECM and Mesenchymal Associated Genes Panel Analysis</a:t>
            </a:r>
          </a:p>
        </p:txBody>
      </p:sp>
      <p:sp>
        <p:nvSpPr>
          <p:cNvPr id="10" name="Rectangle: Rounded Corners 9">
            <a:extLst>
              <a:ext uri="{FF2B5EF4-FFF2-40B4-BE49-F238E27FC236}">
                <a16:creationId xmlns:a16="http://schemas.microsoft.com/office/drawing/2014/main" id="{1161DCA5-5348-89AC-F03A-246967E18524}"/>
              </a:ext>
            </a:extLst>
          </p:cNvPr>
          <p:cNvSpPr/>
          <p:nvPr/>
        </p:nvSpPr>
        <p:spPr>
          <a:xfrm>
            <a:off x="3334047" y="2979354"/>
            <a:ext cx="2260121" cy="1565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Clinical Correlation</a:t>
            </a:r>
          </a:p>
        </p:txBody>
      </p:sp>
    </p:spTree>
    <p:extLst>
      <p:ext uri="{BB962C8B-B14F-4D97-AF65-F5344CB8AC3E}">
        <p14:creationId xmlns:p14="http://schemas.microsoft.com/office/powerpoint/2010/main" val="3726903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824D0-248A-B77D-32C6-F7A160D45627}"/>
              </a:ext>
            </a:extLst>
          </p:cNvPr>
          <p:cNvSpPr>
            <a:spLocks noGrp="1"/>
          </p:cNvSpPr>
          <p:nvPr>
            <p:ph type="title"/>
          </p:nvPr>
        </p:nvSpPr>
        <p:spPr/>
        <p:txBody>
          <a:bodyPr/>
          <a:lstStyle/>
          <a:p>
            <a:r>
              <a:rPr lang="en-US" dirty="0"/>
              <a:t>Univariate Analysis</a:t>
            </a:r>
          </a:p>
        </p:txBody>
      </p:sp>
      <p:graphicFrame>
        <p:nvGraphicFramePr>
          <p:cNvPr id="4" name="Content Placeholder 3">
            <a:extLst>
              <a:ext uri="{FF2B5EF4-FFF2-40B4-BE49-F238E27FC236}">
                <a16:creationId xmlns:a16="http://schemas.microsoft.com/office/drawing/2014/main" id="{0CD66883-78C0-5C07-6156-43472EB6E40A}"/>
              </a:ext>
            </a:extLst>
          </p:cNvPr>
          <p:cNvGraphicFramePr>
            <a:graphicFrameLocks noGrp="1"/>
          </p:cNvGraphicFramePr>
          <p:nvPr>
            <p:ph idx="1"/>
            <p:extLst>
              <p:ext uri="{D42A27DB-BD31-4B8C-83A1-F6EECF244321}">
                <p14:modId xmlns:p14="http://schemas.microsoft.com/office/powerpoint/2010/main" val="2521163938"/>
              </p:ext>
            </p:extLst>
          </p:nvPr>
        </p:nvGraphicFramePr>
        <p:xfrm>
          <a:off x="838200" y="1493852"/>
          <a:ext cx="10515600" cy="482092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007143511"/>
                    </a:ext>
                  </a:extLst>
                </a:gridCol>
                <a:gridCol w="1752600">
                  <a:extLst>
                    <a:ext uri="{9D8B030D-6E8A-4147-A177-3AD203B41FA5}">
                      <a16:colId xmlns:a16="http://schemas.microsoft.com/office/drawing/2014/main" val="3823683499"/>
                    </a:ext>
                  </a:extLst>
                </a:gridCol>
                <a:gridCol w="1752600">
                  <a:extLst>
                    <a:ext uri="{9D8B030D-6E8A-4147-A177-3AD203B41FA5}">
                      <a16:colId xmlns:a16="http://schemas.microsoft.com/office/drawing/2014/main" val="1511132329"/>
                    </a:ext>
                  </a:extLst>
                </a:gridCol>
                <a:gridCol w="1752600">
                  <a:extLst>
                    <a:ext uri="{9D8B030D-6E8A-4147-A177-3AD203B41FA5}">
                      <a16:colId xmlns:a16="http://schemas.microsoft.com/office/drawing/2014/main" val="470275968"/>
                    </a:ext>
                  </a:extLst>
                </a:gridCol>
                <a:gridCol w="1752600">
                  <a:extLst>
                    <a:ext uri="{9D8B030D-6E8A-4147-A177-3AD203B41FA5}">
                      <a16:colId xmlns:a16="http://schemas.microsoft.com/office/drawing/2014/main" val="2605064443"/>
                    </a:ext>
                  </a:extLst>
                </a:gridCol>
                <a:gridCol w="1752600">
                  <a:extLst>
                    <a:ext uri="{9D8B030D-6E8A-4147-A177-3AD203B41FA5}">
                      <a16:colId xmlns:a16="http://schemas.microsoft.com/office/drawing/2014/main" val="3916089641"/>
                    </a:ext>
                  </a:extLst>
                </a:gridCol>
              </a:tblGrid>
              <a:tr h="370840">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Gene</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HR</a:t>
                      </a:r>
                    </a:p>
                  </a:txBody>
                  <a:tcPr marL="4763" marR="4763" marT="4763" marB="0" anchor="ctr"/>
                </a:tc>
                <a:tc>
                  <a:txBody>
                    <a:bodyPr/>
                    <a:lstStyle/>
                    <a:p>
                      <a:pPr algn="ctr" fontAlgn="b">
                        <a:buNone/>
                      </a:pPr>
                      <a:r>
                        <a:rPr lang="en-US" sz="1200" b="1" i="0" u="none" strike="noStrike">
                          <a:solidFill>
                            <a:schemeClr val="bg1"/>
                          </a:solidFill>
                          <a:effectLst/>
                          <a:latin typeface="Times New Roman" panose="02020603050405020304" pitchFamily="18" charset="0"/>
                          <a:cs typeface="Times New Roman" panose="02020603050405020304" pitchFamily="18" charset="0"/>
                        </a:rPr>
                        <a:t>LCI</a:t>
                      </a:r>
                    </a:p>
                  </a:txBody>
                  <a:tcPr marL="4763" marR="4763" marT="4763" marB="0" anchor="ctr"/>
                </a:tc>
                <a:tc>
                  <a:txBody>
                    <a:bodyPr/>
                    <a:lstStyle/>
                    <a:p>
                      <a:pPr algn="ctr" fontAlgn="b">
                        <a:buNone/>
                      </a:pPr>
                      <a:r>
                        <a:rPr lang="en-US" sz="1200" b="1" i="0" u="none" strike="noStrike">
                          <a:solidFill>
                            <a:schemeClr val="bg1"/>
                          </a:solidFill>
                          <a:effectLst/>
                          <a:latin typeface="Times New Roman" panose="02020603050405020304" pitchFamily="18" charset="0"/>
                          <a:cs typeface="Times New Roman" panose="02020603050405020304" pitchFamily="18" charset="0"/>
                        </a:rPr>
                        <a:t>UCI</a:t>
                      </a:r>
                    </a:p>
                  </a:txBody>
                  <a:tcPr marL="4763" marR="4763" marT="4763" marB="0" anchor="ctr"/>
                </a:tc>
                <a:tc>
                  <a:txBody>
                    <a:bodyPr/>
                    <a:lstStyle/>
                    <a:p>
                      <a:pPr algn="ctr" fontAlgn="b">
                        <a:buNone/>
                      </a:pPr>
                      <a:r>
                        <a:rPr lang="en-US" sz="1200" b="1" i="0" u="none" strike="noStrike">
                          <a:solidFill>
                            <a:schemeClr val="bg1"/>
                          </a:solidFill>
                          <a:effectLst/>
                          <a:latin typeface="Times New Roman" panose="02020603050405020304" pitchFamily="18" charset="0"/>
                          <a:cs typeface="Times New Roman" panose="02020603050405020304" pitchFamily="18" charset="0"/>
                        </a:rPr>
                        <a:t>PVAL</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FDR</a:t>
                      </a:r>
                    </a:p>
                  </a:txBody>
                  <a:tcPr marL="4763" marR="4763" marT="4763" marB="0" anchor="ctr"/>
                </a:tc>
                <a:extLst>
                  <a:ext uri="{0D108BD9-81ED-4DB2-BD59-A6C34878D82A}">
                    <a16:rowId xmlns:a16="http://schemas.microsoft.com/office/drawing/2014/main" val="2822943679"/>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NSUN5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2.188749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1.568035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3.055175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4.15E-06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0.083119</a:t>
                      </a:r>
                    </a:p>
                  </a:txBody>
                  <a:tcPr marL="4763" marR="4763" marT="4763" marB="0" anchor="ctr"/>
                </a:tc>
                <a:extLst>
                  <a:ext uri="{0D108BD9-81ED-4DB2-BD59-A6C34878D82A}">
                    <a16:rowId xmlns:a16="http://schemas.microsoft.com/office/drawing/2014/main" val="514820585"/>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LRRC61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1.225964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1.119266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1.342834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1.16E-05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0.115874</a:t>
                      </a:r>
                    </a:p>
                  </a:txBody>
                  <a:tcPr marL="4763" marR="4763" marT="4763" marB="0" anchor="ctr"/>
                </a:tc>
                <a:extLst>
                  <a:ext uri="{0D108BD9-81ED-4DB2-BD59-A6C34878D82A}">
                    <a16:rowId xmlns:a16="http://schemas.microsoft.com/office/drawing/2014/main" val="4273918986"/>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NKX3-1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1.480686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1.224185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1.790933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5.25E-05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334746276"/>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C21orf96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2.505914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1.609502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3.901582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4.76E-05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466886142"/>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RPL39L</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1.252385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1.125155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1.394002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3.83E-05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97473179"/>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OR2AG1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28.7064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5.881135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140.1188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3.32E-05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704768413"/>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STATH</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151.4185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13.44155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1705.722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4.85E-05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1516973489"/>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DNAJC30</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2.378203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1.57078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3.600662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4.24E-05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623277675"/>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OSMR</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1.327997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1.15855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1.522226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4.64E-05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1628390826"/>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BMPR1A</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0.506892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0.363727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0.706409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6.01E-05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0.120235</a:t>
                      </a:r>
                    </a:p>
                  </a:txBody>
                  <a:tcPr marL="4763" marR="4763" marT="4763" marB="0" anchor="ctr"/>
                </a:tc>
                <a:extLst>
                  <a:ext uri="{0D108BD9-81ED-4DB2-BD59-A6C34878D82A}">
                    <a16:rowId xmlns:a16="http://schemas.microsoft.com/office/drawing/2014/main" val="993578355"/>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4763" marR="4763" marT="4763" marB="0" anchor="ctr"/>
                </a:tc>
                <a:extLst>
                  <a:ext uri="{0D108BD9-81ED-4DB2-BD59-A6C34878D82A}">
                    <a16:rowId xmlns:a16="http://schemas.microsoft.com/office/drawing/2014/main" val="1609599160"/>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ARSI</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1.16895</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1.06169</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1.28705</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0.00148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0.176389</a:t>
                      </a:r>
                    </a:p>
                  </a:txBody>
                  <a:tcPr marL="4763" marR="4763" marT="4763" marB="0" anchor="ctr"/>
                </a:tc>
                <a:extLst>
                  <a:ext uri="{0D108BD9-81ED-4DB2-BD59-A6C34878D82A}">
                    <a16:rowId xmlns:a16="http://schemas.microsoft.com/office/drawing/2014/main" val="3380595756"/>
                  </a:ext>
                </a:extLst>
              </a:tr>
            </a:tbl>
          </a:graphicData>
        </a:graphic>
      </p:graphicFrame>
    </p:spTree>
    <p:extLst>
      <p:ext uri="{BB962C8B-B14F-4D97-AF65-F5344CB8AC3E}">
        <p14:creationId xmlns:p14="http://schemas.microsoft.com/office/powerpoint/2010/main" val="3844190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7746-7BA4-2EC3-537F-C0C1DB79D90B}"/>
              </a:ext>
            </a:extLst>
          </p:cNvPr>
          <p:cNvSpPr>
            <a:spLocks noGrp="1"/>
          </p:cNvSpPr>
          <p:nvPr>
            <p:ph type="title"/>
          </p:nvPr>
        </p:nvSpPr>
        <p:spPr/>
        <p:txBody>
          <a:bodyPr/>
          <a:lstStyle/>
          <a:p>
            <a:r>
              <a:rPr lang="en-US" dirty="0"/>
              <a:t>Clinical Analysis and Multivariate Analysis </a:t>
            </a:r>
          </a:p>
        </p:txBody>
      </p:sp>
      <p:graphicFrame>
        <p:nvGraphicFramePr>
          <p:cNvPr id="4" name="Content Placeholder 3">
            <a:extLst>
              <a:ext uri="{FF2B5EF4-FFF2-40B4-BE49-F238E27FC236}">
                <a16:creationId xmlns:a16="http://schemas.microsoft.com/office/drawing/2014/main" id="{39CC530B-3EDA-665B-B5C3-D5A6E8297243}"/>
              </a:ext>
            </a:extLst>
          </p:cNvPr>
          <p:cNvGraphicFramePr>
            <a:graphicFrameLocks noGrp="1"/>
          </p:cNvGraphicFramePr>
          <p:nvPr>
            <p:ph idx="1"/>
            <p:extLst>
              <p:ext uri="{D42A27DB-BD31-4B8C-83A1-F6EECF244321}">
                <p14:modId xmlns:p14="http://schemas.microsoft.com/office/powerpoint/2010/main" val="2502726549"/>
              </p:ext>
            </p:extLst>
          </p:nvPr>
        </p:nvGraphicFramePr>
        <p:xfrm>
          <a:off x="838200" y="3487737"/>
          <a:ext cx="10515603" cy="2258225"/>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2000333397"/>
                    </a:ext>
                  </a:extLst>
                </a:gridCol>
                <a:gridCol w="1502229">
                  <a:extLst>
                    <a:ext uri="{9D8B030D-6E8A-4147-A177-3AD203B41FA5}">
                      <a16:colId xmlns:a16="http://schemas.microsoft.com/office/drawing/2014/main" val="827257284"/>
                    </a:ext>
                  </a:extLst>
                </a:gridCol>
                <a:gridCol w="1502229">
                  <a:extLst>
                    <a:ext uri="{9D8B030D-6E8A-4147-A177-3AD203B41FA5}">
                      <a16:colId xmlns:a16="http://schemas.microsoft.com/office/drawing/2014/main" val="1249789777"/>
                    </a:ext>
                  </a:extLst>
                </a:gridCol>
                <a:gridCol w="1502229">
                  <a:extLst>
                    <a:ext uri="{9D8B030D-6E8A-4147-A177-3AD203B41FA5}">
                      <a16:colId xmlns:a16="http://schemas.microsoft.com/office/drawing/2014/main" val="940828566"/>
                    </a:ext>
                  </a:extLst>
                </a:gridCol>
                <a:gridCol w="1502229">
                  <a:extLst>
                    <a:ext uri="{9D8B030D-6E8A-4147-A177-3AD203B41FA5}">
                      <a16:colId xmlns:a16="http://schemas.microsoft.com/office/drawing/2014/main" val="577942564"/>
                    </a:ext>
                  </a:extLst>
                </a:gridCol>
                <a:gridCol w="1502229">
                  <a:extLst>
                    <a:ext uri="{9D8B030D-6E8A-4147-A177-3AD203B41FA5}">
                      <a16:colId xmlns:a16="http://schemas.microsoft.com/office/drawing/2014/main" val="2765520223"/>
                    </a:ext>
                  </a:extLst>
                </a:gridCol>
                <a:gridCol w="1502229">
                  <a:extLst>
                    <a:ext uri="{9D8B030D-6E8A-4147-A177-3AD203B41FA5}">
                      <a16:colId xmlns:a16="http://schemas.microsoft.com/office/drawing/2014/main" val="1694477299"/>
                    </a:ext>
                  </a:extLst>
                </a:gridCol>
              </a:tblGrid>
              <a:tr h="451645">
                <a:tc>
                  <a:txBody>
                    <a:bodyPr/>
                    <a:lstStyle/>
                    <a:p>
                      <a:pPr algn="ctr" rtl="0" fontAlgn="ctr">
                        <a:buNone/>
                      </a:pPr>
                      <a:r>
                        <a:rPr lang="en-US" sz="1200" b="1" i="0" u="none" strike="noStrike" dirty="0">
                          <a:solidFill>
                            <a:srgbClr val="FFFFFF"/>
                          </a:solidFill>
                          <a:effectLst/>
                          <a:latin typeface="Times New Roman" panose="02020603050405020304" pitchFamily="18" charset="0"/>
                        </a:rPr>
                        <a:t>Analysis</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Type</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HR</a:t>
                      </a:r>
                    </a:p>
                  </a:txBody>
                  <a:tcPr marL="4763" marR="4763" marT="4763" marB="0" anchor="ctr"/>
                </a:tc>
                <a:tc>
                  <a:txBody>
                    <a:bodyPr/>
                    <a:lstStyle/>
                    <a:p>
                      <a:pPr algn="ctr" rtl="0" fontAlgn="b">
                        <a:buNone/>
                      </a:pPr>
                      <a:r>
                        <a:rPr lang="en-US" sz="1200" b="1" i="0" u="none" strike="noStrike" dirty="0">
                          <a:solidFill>
                            <a:srgbClr val="FFFFFF"/>
                          </a:solidFill>
                          <a:effectLst/>
                          <a:latin typeface="Times New Roman" panose="02020603050405020304" pitchFamily="18" charset="0"/>
                        </a:rPr>
                        <a:t>LCI</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UCI</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PVAL</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FDR</a:t>
                      </a:r>
                    </a:p>
                  </a:txBody>
                  <a:tcPr marL="4763" marR="4763" marT="4763" marB="0" anchor="ctr"/>
                </a:tc>
                <a:extLst>
                  <a:ext uri="{0D108BD9-81ED-4DB2-BD59-A6C34878D82A}">
                    <a16:rowId xmlns:a16="http://schemas.microsoft.com/office/drawing/2014/main" val="3484461071"/>
                  </a:ext>
                </a:extLst>
              </a:tr>
              <a:tr h="451645">
                <a:tc>
                  <a:txBody>
                    <a:bodyPr/>
                    <a:lstStyle/>
                    <a:p>
                      <a:pPr algn="ctr" rtl="0" fontAlgn="ctr">
                        <a:buNone/>
                      </a:pPr>
                      <a:r>
                        <a:rPr lang="en-US" sz="1200" b="0" i="0" u="none" strike="noStrike" dirty="0">
                          <a:solidFill>
                            <a:srgbClr val="000000"/>
                          </a:solidFill>
                          <a:effectLst/>
                          <a:latin typeface="Times New Roman" panose="02020603050405020304" pitchFamily="18" charset="0"/>
                        </a:rPr>
                        <a:t>Univariate</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UNI</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1.16895</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1.06169</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1.28705</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0.00148</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0.17639</a:t>
                      </a:r>
                    </a:p>
                  </a:txBody>
                  <a:tcPr marL="4763" marR="4763" marT="4763" marB="0" anchor="ctr"/>
                </a:tc>
                <a:extLst>
                  <a:ext uri="{0D108BD9-81ED-4DB2-BD59-A6C34878D82A}">
                    <a16:rowId xmlns:a16="http://schemas.microsoft.com/office/drawing/2014/main" val="2328482303"/>
                  </a:ext>
                </a:extLst>
              </a:tr>
              <a:tr h="451645">
                <a:tc>
                  <a:txBody>
                    <a:bodyPr/>
                    <a:lstStyle/>
                    <a:p>
                      <a:pPr algn="ctr" rtl="0" fontAlgn="ctr">
                        <a:buNone/>
                      </a:pPr>
                      <a:r>
                        <a:rPr lang="en-US" sz="1200" b="0" i="0" u="none" strike="noStrike" dirty="0">
                          <a:solidFill>
                            <a:srgbClr val="000000"/>
                          </a:solidFill>
                          <a:effectLst/>
                          <a:latin typeface="Times New Roman" panose="02020603050405020304" pitchFamily="18" charset="0"/>
                        </a:rPr>
                        <a:t>Univariate Mesenchymal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UNI</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1.39855</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1.17428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1.66565</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0.00017</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0.41729</a:t>
                      </a:r>
                    </a:p>
                  </a:txBody>
                  <a:tcPr marL="4763" marR="4763" marT="4763" marB="0" anchor="ctr"/>
                </a:tc>
                <a:extLst>
                  <a:ext uri="{0D108BD9-81ED-4DB2-BD59-A6C34878D82A}">
                    <a16:rowId xmlns:a16="http://schemas.microsoft.com/office/drawing/2014/main" val="4079566558"/>
                  </a:ext>
                </a:extLst>
              </a:tr>
              <a:tr h="451645">
                <a:tc>
                  <a:txBody>
                    <a:bodyPr/>
                    <a:lstStyle/>
                    <a:p>
                      <a:pPr algn="ctr" rtl="0" fontAlgn="ctr">
                        <a:buNone/>
                      </a:pPr>
                      <a:r>
                        <a:rPr lang="en-US" sz="1200" b="0" i="0" u="none" strike="noStrike" dirty="0">
                          <a:solidFill>
                            <a:srgbClr val="000000"/>
                          </a:solidFill>
                          <a:effectLst/>
                          <a:latin typeface="Times New Roman" panose="02020603050405020304" pitchFamily="18" charset="0"/>
                        </a:rPr>
                        <a:t>Multivariate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MULTI</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1.13295</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1.02452</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1.25286</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0.01502</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0.54655</a:t>
                      </a:r>
                    </a:p>
                  </a:txBody>
                  <a:tcPr marL="4763" marR="4763" marT="4763" marB="0" anchor="ctr"/>
                </a:tc>
                <a:extLst>
                  <a:ext uri="{0D108BD9-81ED-4DB2-BD59-A6C34878D82A}">
                    <a16:rowId xmlns:a16="http://schemas.microsoft.com/office/drawing/2014/main" val="1162862375"/>
                  </a:ext>
                </a:extLst>
              </a:tr>
              <a:tr h="451645">
                <a:tc>
                  <a:txBody>
                    <a:bodyPr/>
                    <a:lstStyle/>
                    <a:p>
                      <a:pPr algn="ctr" rtl="0" fontAlgn="ctr">
                        <a:buNone/>
                      </a:pPr>
                      <a:r>
                        <a:rPr lang="en-US" sz="1200" b="0" i="0" u="none" strike="noStrike" dirty="0">
                          <a:solidFill>
                            <a:srgbClr val="000000"/>
                          </a:solidFill>
                          <a:effectLst/>
                          <a:latin typeface="Times New Roman" panose="02020603050405020304" pitchFamily="18" charset="0"/>
                        </a:rPr>
                        <a:t>Multivariate Mesenchymal</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MULTI</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1.39674</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1.16841</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1.66969</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0.00024</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0.38676</a:t>
                      </a:r>
                    </a:p>
                  </a:txBody>
                  <a:tcPr marL="4763" marR="4763" marT="4763" marB="0" anchor="ctr"/>
                </a:tc>
                <a:extLst>
                  <a:ext uri="{0D108BD9-81ED-4DB2-BD59-A6C34878D82A}">
                    <a16:rowId xmlns:a16="http://schemas.microsoft.com/office/drawing/2014/main" val="4119333267"/>
                  </a:ext>
                </a:extLst>
              </a:tr>
            </a:tbl>
          </a:graphicData>
        </a:graphic>
      </p:graphicFrame>
      <p:graphicFrame>
        <p:nvGraphicFramePr>
          <p:cNvPr id="3" name="Content Placeholder 3">
            <a:extLst>
              <a:ext uri="{FF2B5EF4-FFF2-40B4-BE49-F238E27FC236}">
                <a16:creationId xmlns:a16="http://schemas.microsoft.com/office/drawing/2014/main" id="{34EFCC61-D7D2-C6CC-3EEF-C865DC70E111}"/>
              </a:ext>
            </a:extLst>
          </p:cNvPr>
          <p:cNvGraphicFramePr>
            <a:graphicFrameLocks/>
          </p:cNvGraphicFramePr>
          <p:nvPr>
            <p:extLst>
              <p:ext uri="{D42A27DB-BD31-4B8C-83A1-F6EECF244321}">
                <p14:modId xmlns:p14="http://schemas.microsoft.com/office/powerpoint/2010/main" val="3723864235"/>
              </p:ext>
            </p:extLst>
          </p:nvPr>
        </p:nvGraphicFramePr>
        <p:xfrm>
          <a:off x="838200" y="1847532"/>
          <a:ext cx="10515600" cy="74168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855663488"/>
                    </a:ext>
                  </a:extLst>
                </a:gridCol>
                <a:gridCol w="1752600">
                  <a:extLst>
                    <a:ext uri="{9D8B030D-6E8A-4147-A177-3AD203B41FA5}">
                      <a16:colId xmlns:a16="http://schemas.microsoft.com/office/drawing/2014/main" val="2447982265"/>
                    </a:ext>
                  </a:extLst>
                </a:gridCol>
                <a:gridCol w="1752600">
                  <a:extLst>
                    <a:ext uri="{9D8B030D-6E8A-4147-A177-3AD203B41FA5}">
                      <a16:colId xmlns:a16="http://schemas.microsoft.com/office/drawing/2014/main" val="27932711"/>
                    </a:ext>
                  </a:extLst>
                </a:gridCol>
                <a:gridCol w="1752600">
                  <a:extLst>
                    <a:ext uri="{9D8B030D-6E8A-4147-A177-3AD203B41FA5}">
                      <a16:colId xmlns:a16="http://schemas.microsoft.com/office/drawing/2014/main" val="2411187902"/>
                    </a:ext>
                  </a:extLst>
                </a:gridCol>
                <a:gridCol w="1752600">
                  <a:extLst>
                    <a:ext uri="{9D8B030D-6E8A-4147-A177-3AD203B41FA5}">
                      <a16:colId xmlns:a16="http://schemas.microsoft.com/office/drawing/2014/main" val="669393038"/>
                    </a:ext>
                  </a:extLst>
                </a:gridCol>
                <a:gridCol w="1752600">
                  <a:extLst>
                    <a:ext uri="{9D8B030D-6E8A-4147-A177-3AD203B41FA5}">
                      <a16:colId xmlns:a16="http://schemas.microsoft.com/office/drawing/2014/main" val="2582500837"/>
                    </a:ext>
                  </a:extLst>
                </a:gridCol>
              </a:tblGrid>
              <a:tr h="370840">
                <a:tc>
                  <a:txBody>
                    <a:bodyPr/>
                    <a:lstStyle/>
                    <a:p>
                      <a:pPr algn="ctr" fontAlgn="ctr">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Variable</a:t>
                      </a:r>
                    </a:p>
                  </a:txBody>
                  <a:tcPr marL="4763" marR="4763" marT="4763" marB="0" anchor="ctr"/>
                </a:tc>
                <a:tc>
                  <a:txBody>
                    <a:bodyPr/>
                    <a:lstStyle/>
                    <a:p>
                      <a:pPr algn="ctr" fontAlgn="b">
                        <a:buNone/>
                      </a:pPr>
                      <a:r>
                        <a:rPr lang="en-US" sz="1200" b="1" i="0" u="none" strike="noStrike" dirty="0" err="1">
                          <a:solidFill>
                            <a:schemeClr val="bg1"/>
                          </a:solidFill>
                          <a:effectLst/>
                          <a:latin typeface="Times New Roman" panose="02020603050405020304" pitchFamily="18" charset="0"/>
                          <a:cs typeface="Times New Roman" panose="02020603050405020304" pitchFamily="18" charset="0"/>
                        </a:rPr>
                        <a:t>coef</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exp(</a:t>
                      </a:r>
                      <a:r>
                        <a:rPr lang="en-US" sz="1200" b="1" i="0" u="none" strike="noStrike" dirty="0" err="1">
                          <a:solidFill>
                            <a:schemeClr val="bg1"/>
                          </a:solidFill>
                          <a:effectLst/>
                          <a:latin typeface="Times New Roman" panose="02020603050405020304" pitchFamily="18" charset="0"/>
                          <a:cs typeface="Times New Roman" panose="02020603050405020304" pitchFamily="18" charset="0"/>
                        </a:rPr>
                        <a:t>coef</a:t>
                      </a:r>
                      <a:r>
                        <a:rPr lang="en-US" sz="1200" b="1" i="0" u="none" strike="noStrike" dirty="0">
                          <a:solidFill>
                            <a:schemeClr val="bg1"/>
                          </a:solidFill>
                          <a:effectLst/>
                          <a:latin typeface="Times New Roman" panose="02020603050405020304" pitchFamily="18" charset="0"/>
                          <a:cs typeface="Times New Roman" panose="02020603050405020304" pitchFamily="18" charset="0"/>
                        </a:rPr>
                        <a:t>)</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se(</a:t>
                      </a:r>
                      <a:r>
                        <a:rPr lang="en-US" sz="1200" b="1" i="0" u="none" strike="noStrike" dirty="0" err="1">
                          <a:solidFill>
                            <a:schemeClr val="bg1"/>
                          </a:solidFill>
                          <a:effectLst/>
                          <a:latin typeface="Times New Roman" panose="02020603050405020304" pitchFamily="18" charset="0"/>
                          <a:cs typeface="Times New Roman" panose="02020603050405020304" pitchFamily="18" charset="0"/>
                        </a:rPr>
                        <a:t>coef</a:t>
                      </a:r>
                      <a:r>
                        <a:rPr lang="en-US" sz="1200" b="1" i="0" u="none" strike="noStrike" dirty="0">
                          <a:solidFill>
                            <a:schemeClr val="bg1"/>
                          </a:solidFill>
                          <a:effectLst/>
                          <a:latin typeface="Times New Roman" panose="02020603050405020304" pitchFamily="18" charset="0"/>
                          <a:cs typeface="Times New Roman" panose="02020603050405020304" pitchFamily="18" charset="0"/>
                        </a:rPr>
                        <a:t>)</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z</a:t>
                      </a:r>
                    </a:p>
                  </a:txBody>
                  <a:tcPr marL="4763" marR="4763" marT="4763" marB="0" anchor="ctr"/>
                </a:tc>
                <a:tc>
                  <a:txBody>
                    <a:bodyPr/>
                    <a:lstStyle/>
                    <a:p>
                      <a:pPr algn="ctr" fontAlgn="b">
                        <a:buNone/>
                      </a:pPr>
                      <a:r>
                        <a:rPr lang="en-US" sz="1200" b="1" i="0" u="none" strike="noStrike" dirty="0" err="1">
                          <a:solidFill>
                            <a:schemeClr val="bg1"/>
                          </a:solidFill>
                          <a:effectLst/>
                          <a:latin typeface="Times New Roman" panose="02020603050405020304" pitchFamily="18" charset="0"/>
                          <a:cs typeface="Times New Roman" panose="02020603050405020304" pitchFamily="18" charset="0"/>
                        </a:rPr>
                        <a:t>Pr</a:t>
                      </a:r>
                      <a:r>
                        <a:rPr lang="en-US" sz="1200" b="1" i="0" u="none" strike="noStrike" dirty="0">
                          <a:solidFill>
                            <a:schemeClr val="bg1"/>
                          </a:solidFill>
                          <a:effectLst/>
                          <a:latin typeface="Times New Roman" panose="02020603050405020304" pitchFamily="18" charset="0"/>
                          <a:cs typeface="Times New Roman" panose="02020603050405020304" pitchFamily="18" charset="0"/>
                        </a:rPr>
                        <a:t>(&gt;|z|)</a:t>
                      </a:r>
                    </a:p>
                  </a:txBody>
                  <a:tcPr marL="4763" marR="4763" marT="4763" marB="0" anchor="ctr"/>
                </a:tc>
                <a:extLst>
                  <a:ext uri="{0D108BD9-81ED-4DB2-BD59-A6C34878D82A}">
                    <a16:rowId xmlns:a16="http://schemas.microsoft.com/office/drawing/2014/main" val="1613241312"/>
                  </a:ext>
                </a:extLst>
              </a:tr>
              <a:tr h="370840">
                <a:tc>
                  <a:txBody>
                    <a:bodyPr/>
                    <a:lstStyle/>
                    <a:p>
                      <a:pPr algn="ctr" fontAlgn="ctr">
                        <a:buNone/>
                      </a:pPr>
                      <a:r>
                        <a:rPr lang="en-US" sz="1200" b="0" i="0" u="none" strike="noStrike" dirty="0">
                          <a:solidFill>
                            <a:schemeClr val="tx1"/>
                          </a:solidFill>
                          <a:effectLst/>
                          <a:latin typeface="Times New Roman" panose="02020603050405020304" pitchFamily="18" charset="0"/>
                          <a:cs typeface="Times New Roman" panose="02020603050405020304" pitchFamily="18" charset="0"/>
                        </a:rPr>
                        <a:t>age</a:t>
                      </a:r>
                    </a:p>
                  </a:txBody>
                  <a:tcPr marL="4763" marR="4763" marT="4763" marB="0" anchor="ctr"/>
                </a:tc>
                <a:tc>
                  <a:txBody>
                    <a:bodyPr/>
                    <a:lstStyle/>
                    <a:p>
                      <a:pPr algn="ctr" fontAlgn="b">
                        <a:buNone/>
                      </a:pPr>
                      <a:r>
                        <a:rPr lang="en-US" sz="1200" b="0" i="0" u="none" strike="noStrike" dirty="0">
                          <a:solidFill>
                            <a:schemeClr val="tx1"/>
                          </a:solidFill>
                          <a:effectLst/>
                          <a:latin typeface="Times New Roman" panose="02020603050405020304" pitchFamily="18" charset="0"/>
                          <a:cs typeface="Times New Roman" panose="02020603050405020304" pitchFamily="18" charset="0"/>
                        </a:rPr>
                        <a:t>0.025113</a:t>
                      </a:r>
                    </a:p>
                  </a:txBody>
                  <a:tcPr marL="4763" marR="4763" marT="4763" marB="0" anchor="ctr"/>
                </a:tc>
                <a:tc>
                  <a:txBody>
                    <a:bodyPr/>
                    <a:lstStyle/>
                    <a:p>
                      <a:pPr algn="ctr" fontAlgn="b">
                        <a:buNone/>
                      </a:pPr>
                      <a:r>
                        <a:rPr lang="en-US" sz="1200" b="0" i="0" u="none" strike="noStrike">
                          <a:solidFill>
                            <a:schemeClr val="tx1"/>
                          </a:solidFill>
                          <a:effectLst/>
                          <a:latin typeface="Times New Roman" panose="02020603050405020304" pitchFamily="18" charset="0"/>
                          <a:cs typeface="Times New Roman" panose="02020603050405020304" pitchFamily="18" charset="0"/>
                        </a:rPr>
                        <a:t>1.02543</a:t>
                      </a:r>
                    </a:p>
                  </a:txBody>
                  <a:tcPr marL="4763" marR="4763" marT="4763" marB="0" anchor="ctr"/>
                </a:tc>
                <a:tc>
                  <a:txBody>
                    <a:bodyPr/>
                    <a:lstStyle/>
                    <a:p>
                      <a:pPr algn="ctr" fontAlgn="b">
                        <a:buNone/>
                      </a:pPr>
                      <a:r>
                        <a:rPr lang="en-US" sz="1200" b="0" i="0" u="none" strike="noStrike">
                          <a:solidFill>
                            <a:schemeClr val="tx1"/>
                          </a:solidFill>
                          <a:effectLst/>
                          <a:latin typeface="Times New Roman" panose="02020603050405020304" pitchFamily="18" charset="0"/>
                          <a:cs typeface="Times New Roman" panose="02020603050405020304" pitchFamily="18" charset="0"/>
                        </a:rPr>
                        <a:t>0.007139</a:t>
                      </a:r>
                    </a:p>
                  </a:txBody>
                  <a:tcPr marL="4763" marR="4763" marT="4763" marB="0" anchor="ctr"/>
                </a:tc>
                <a:tc>
                  <a:txBody>
                    <a:bodyPr/>
                    <a:lstStyle/>
                    <a:p>
                      <a:pPr algn="ctr" fontAlgn="b">
                        <a:buNone/>
                      </a:pPr>
                      <a:r>
                        <a:rPr lang="en-US" sz="1200" b="0" i="0" u="none" strike="noStrike">
                          <a:solidFill>
                            <a:schemeClr val="tx1"/>
                          </a:solidFill>
                          <a:effectLst/>
                          <a:latin typeface="Times New Roman" panose="02020603050405020304" pitchFamily="18" charset="0"/>
                          <a:cs typeface="Times New Roman" panose="02020603050405020304" pitchFamily="18" charset="0"/>
                        </a:rPr>
                        <a:t>3.52E+00</a:t>
                      </a:r>
                    </a:p>
                  </a:txBody>
                  <a:tcPr marL="4763" marR="4763" marT="4763" marB="0" anchor="ctr"/>
                </a:tc>
                <a:tc>
                  <a:txBody>
                    <a:bodyPr/>
                    <a:lstStyle/>
                    <a:p>
                      <a:pPr algn="ctr" fontAlgn="b">
                        <a:buNone/>
                      </a:pPr>
                      <a:r>
                        <a:rPr lang="en-US" sz="1200" b="0" i="0" u="none" strike="noStrike" dirty="0">
                          <a:solidFill>
                            <a:schemeClr val="tx1"/>
                          </a:solidFill>
                          <a:effectLst/>
                          <a:latin typeface="Times New Roman" panose="02020603050405020304" pitchFamily="18" charset="0"/>
                          <a:cs typeface="Times New Roman" panose="02020603050405020304" pitchFamily="18" charset="0"/>
                        </a:rPr>
                        <a:t>4.36E-04</a:t>
                      </a:r>
                    </a:p>
                  </a:txBody>
                  <a:tcPr marL="4763" marR="4763" marT="4763" marB="0" anchor="ctr"/>
                </a:tc>
                <a:extLst>
                  <a:ext uri="{0D108BD9-81ED-4DB2-BD59-A6C34878D82A}">
                    <a16:rowId xmlns:a16="http://schemas.microsoft.com/office/drawing/2014/main" val="2121366728"/>
                  </a:ext>
                </a:extLst>
              </a:tr>
            </a:tbl>
          </a:graphicData>
        </a:graphic>
      </p:graphicFrame>
      <p:sp>
        <p:nvSpPr>
          <p:cNvPr id="5" name="TextBox 4">
            <a:extLst>
              <a:ext uri="{FF2B5EF4-FFF2-40B4-BE49-F238E27FC236}">
                <a16:creationId xmlns:a16="http://schemas.microsoft.com/office/drawing/2014/main" id="{73896E7D-C16A-5FEF-3F73-74CD1BC92E1C}"/>
              </a:ext>
            </a:extLst>
          </p:cNvPr>
          <p:cNvSpPr txBox="1"/>
          <p:nvPr/>
        </p:nvSpPr>
        <p:spPr>
          <a:xfrm>
            <a:off x="536331" y="3050876"/>
            <a:ext cx="2646485" cy="369332"/>
          </a:xfrm>
          <a:prstGeom prst="rect">
            <a:avLst/>
          </a:prstGeom>
          <a:noFill/>
        </p:spPr>
        <p:txBody>
          <a:bodyPr wrap="square" rtlCol="0">
            <a:spAutoFit/>
          </a:bodyPr>
          <a:lstStyle/>
          <a:p>
            <a:r>
              <a:rPr lang="en-US" dirty="0"/>
              <a:t>ARSI Correlation</a:t>
            </a:r>
          </a:p>
        </p:txBody>
      </p:sp>
    </p:spTree>
    <p:extLst>
      <p:ext uri="{BB962C8B-B14F-4D97-AF65-F5344CB8AC3E}">
        <p14:creationId xmlns:p14="http://schemas.microsoft.com/office/powerpoint/2010/main" val="336317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E4C85-A5E4-6DCC-B671-EDDD0A7A04B8}"/>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dirty="0"/>
              <a:t>ARSI Expression</a:t>
            </a:r>
          </a:p>
        </p:txBody>
      </p:sp>
      <p:sp>
        <p:nvSpPr>
          <p:cNvPr id="1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66B4219-BE39-D409-DC20-6C9453468431}"/>
              </a:ext>
            </a:extLst>
          </p:cNvPr>
          <p:cNvSpPr txBox="1"/>
          <p:nvPr/>
        </p:nvSpPr>
        <p:spPr>
          <a:xfrm>
            <a:off x="640080" y="2872899"/>
            <a:ext cx="4243589" cy="3320668"/>
          </a:xfrm>
          <a:prstGeom prst="rect">
            <a:avLst/>
          </a:prstGeom>
        </p:spPr>
        <p:txBody>
          <a:bodyPr vert="horz" lIns="91440" tIns="45720" rIns="91440" bIns="45720" rtlCol="0">
            <a:normAutofit/>
          </a:bodyPr>
          <a:lstStyle/>
          <a:p>
            <a:pPr>
              <a:lnSpc>
                <a:spcPct val="90000"/>
              </a:lnSpc>
              <a:spcAft>
                <a:spcPts val="600"/>
              </a:spcAft>
            </a:pPr>
            <a:r>
              <a:rPr lang="en-US" sz="2200" b="1" dirty="0"/>
              <a:t>ARSI</a:t>
            </a:r>
            <a:r>
              <a:rPr lang="en-US" sz="2200" dirty="0"/>
              <a:t>: Arylsulfatase I</a:t>
            </a:r>
          </a:p>
          <a:p>
            <a:pPr marL="342900" indent="-342900">
              <a:lnSpc>
                <a:spcPct val="90000"/>
              </a:lnSpc>
              <a:spcAft>
                <a:spcPts val="600"/>
              </a:spcAft>
              <a:buFont typeface="Arial" panose="020B0604020202020204" pitchFamily="34" charset="0"/>
              <a:buChar char="•"/>
            </a:pPr>
            <a:r>
              <a:rPr lang="en-US" sz="2200" dirty="0"/>
              <a:t>Removes sulfate groups from ECM molecules</a:t>
            </a:r>
          </a:p>
          <a:p>
            <a:pPr marL="342900" indent="-342900">
              <a:lnSpc>
                <a:spcPct val="90000"/>
              </a:lnSpc>
              <a:spcAft>
                <a:spcPts val="600"/>
              </a:spcAft>
              <a:buFont typeface="Arial" panose="020B0604020202020204" pitchFamily="34" charset="0"/>
              <a:buChar char="•"/>
            </a:pPr>
            <a:endParaRPr lang="en-US" sz="2200" dirty="0"/>
          </a:p>
          <a:p>
            <a:pPr>
              <a:lnSpc>
                <a:spcPct val="90000"/>
              </a:lnSpc>
              <a:spcAft>
                <a:spcPts val="600"/>
              </a:spcAft>
            </a:pPr>
            <a:r>
              <a:rPr lang="en-US" sz="2200" dirty="0"/>
              <a:t>Low expression in most tissues</a:t>
            </a:r>
          </a:p>
          <a:p>
            <a:pPr marL="342900" indent="-342900">
              <a:lnSpc>
                <a:spcPct val="90000"/>
              </a:lnSpc>
              <a:spcAft>
                <a:spcPts val="600"/>
              </a:spcAft>
              <a:buFont typeface="Arial" panose="020B0604020202020204" pitchFamily="34" charset="0"/>
              <a:buChar char="•"/>
            </a:pPr>
            <a:r>
              <a:rPr lang="en-US" sz="2200" dirty="0"/>
              <a:t>ARSI Expression Across GBM Subtypes</a:t>
            </a:r>
          </a:p>
          <a:p>
            <a:pPr marL="342900" indent="-342900">
              <a:lnSpc>
                <a:spcPct val="90000"/>
              </a:lnSpc>
              <a:spcAft>
                <a:spcPts val="600"/>
              </a:spcAft>
              <a:buFont typeface="Arial" panose="020B0604020202020204" pitchFamily="34" charset="0"/>
              <a:buChar char="•"/>
            </a:pPr>
            <a:r>
              <a:rPr lang="en-US" sz="2200" dirty="0"/>
              <a:t>Highest Expression in Mesenchymal Subtype</a:t>
            </a:r>
          </a:p>
          <a:p>
            <a:pPr indent="-228600">
              <a:lnSpc>
                <a:spcPct val="90000"/>
              </a:lnSpc>
              <a:spcAft>
                <a:spcPts val="600"/>
              </a:spcAft>
              <a:buFont typeface="Arial" panose="020B0604020202020204" pitchFamily="34" charset="0"/>
              <a:buChar char="•"/>
            </a:pPr>
            <a:endParaRPr lang="en-US" sz="2200" dirty="0"/>
          </a:p>
        </p:txBody>
      </p:sp>
      <p:pic>
        <p:nvPicPr>
          <p:cNvPr id="4" name="Picture 3" descr="A graph with colored squares and dots&#10;&#10;AI-generated content may be incorrect.">
            <a:extLst>
              <a:ext uri="{FF2B5EF4-FFF2-40B4-BE49-F238E27FC236}">
                <a16:creationId xmlns:a16="http://schemas.microsoft.com/office/drawing/2014/main" id="{00A81202-58A4-5ABF-2AC2-C6D1236A1B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8857" y="619099"/>
            <a:ext cx="5256690" cy="5256690"/>
          </a:xfrm>
          <a:prstGeom prst="rect">
            <a:avLst/>
          </a:prstGeom>
        </p:spPr>
      </p:pic>
    </p:spTree>
    <p:extLst>
      <p:ext uri="{BB962C8B-B14F-4D97-AF65-F5344CB8AC3E}">
        <p14:creationId xmlns:p14="http://schemas.microsoft.com/office/powerpoint/2010/main" val="1698128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A648-2E59-30A1-CF41-F3BFFF763318}"/>
              </a:ext>
            </a:extLst>
          </p:cNvPr>
          <p:cNvSpPr>
            <a:spLocks noGrp="1"/>
          </p:cNvSpPr>
          <p:nvPr>
            <p:ph type="title"/>
          </p:nvPr>
        </p:nvSpPr>
        <p:spPr/>
        <p:txBody>
          <a:bodyPr/>
          <a:lstStyle/>
          <a:p>
            <a:r>
              <a:rPr lang="en-US" dirty="0"/>
              <a:t>Kaplan-Meier Survival Curves: by Subtype</a:t>
            </a:r>
          </a:p>
        </p:txBody>
      </p:sp>
      <p:pic>
        <p:nvPicPr>
          <p:cNvPr id="4" name="Picture 3" descr="A graph of a number of numbers&#10;&#10;AI-generated content may be incorrect.">
            <a:extLst>
              <a:ext uri="{FF2B5EF4-FFF2-40B4-BE49-F238E27FC236}">
                <a16:creationId xmlns:a16="http://schemas.microsoft.com/office/drawing/2014/main" id="{69968D6B-CC1B-D9C0-C0E9-54CA34051D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8241" y="1469197"/>
            <a:ext cx="7535517" cy="5023678"/>
          </a:xfrm>
          <a:prstGeom prst="rect">
            <a:avLst/>
          </a:prstGeom>
        </p:spPr>
      </p:pic>
    </p:spTree>
    <p:extLst>
      <p:ext uri="{BB962C8B-B14F-4D97-AF65-F5344CB8AC3E}">
        <p14:creationId xmlns:p14="http://schemas.microsoft.com/office/powerpoint/2010/main" val="2561224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C40-4343-B8E3-0C81-5D13463438AA}"/>
              </a:ext>
            </a:extLst>
          </p:cNvPr>
          <p:cNvSpPr>
            <a:spLocks noGrp="1"/>
          </p:cNvSpPr>
          <p:nvPr>
            <p:ph type="title"/>
          </p:nvPr>
        </p:nvSpPr>
        <p:spPr/>
        <p:txBody>
          <a:bodyPr/>
          <a:lstStyle/>
          <a:p>
            <a:r>
              <a:rPr lang="en-US" dirty="0"/>
              <a:t>Methylation Analysis</a:t>
            </a:r>
          </a:p>
        </p:txBody>
      </p:sp>
      <p:graphicFrame>
        <p:nvGraphicFramePr>
          <p:cNvPr id="3" name="Table 2">
            <a:extLst>
              <a:ext uri="{FF2B5EF4-FFF2-40B4-BE49-F238E27FC236}">
                <a16:creationId xmlns:a16="http://schemas.microsoft.com/office/drawing/2014/main" id="{2DE25075-B879-EB6B-0475-C8AD1137A375}"/>
              </a:ext>
            </a:extLst>
          </p:cNvPr>
          <p:cNvGraphicFramePr>
            <a:graphicFrameLocks noGrp="1"/>
          </p:cNvGraphicFramePr>
          <p:nvPr>
            <p:extLst>
              <p:ext uri="{D42A27DB-BD31-4B8C-83A1-F6EECF244321}">
                <p14:modId xmlns:p14="http://schemas.microsoft.com/office/powerpoint/2010/main" val="432012495"/>
              </p:ext>
            </p:extLst>
          </p:nvPr>
        </p:nvGraphicFramePr>
        <p:xfrm>
          <a:off x="838202" y="1421296"/>
          <a:ext cx="10515598" cy="1483043"/>
        </p:xfrm>
        <a:graphic>
          <a:graphicData uri="http://schemas.openxmlformats.org/drawingml/2006/table">
            <a:tbl>
              <a:tblPr firstRow="1" bandRow="1">
                <a:tableStyleId>{5C22544A-7EE6-4342-B048-85BDC9FD1C3A}</a:tableStyleId>
              </a:tblPr>
              <a:tblGrid>
                <a:gridCol w="1045002">
                  <a:extLst>
                    <a:ext uri="{9D8B030D-6E8A-4147-A177-3AD203B41FA5}">
                      <a16:colId xmlns:a16="http://schemas.microsoft.com/office/drawing/2014/main" val="1975894668"/>
                    </a:ext>
                  </a:extLst>
                </a:gridCol>
                <a:gridCol w="1045002">
                  <a:extLst>
                    <a:ext uri="{9D8B030D-6E8A-4147-A177-3AD203B41FA5}">
                      <a16:colId xmlns:a16="http://schemas.microsoft.com/office/drawing/2014/main" val="2402064171"/>
                    </a:ext>
                  </a:extLst>
                </a:gridCol>
                <a:gridCol w="1045002">
                  <a:extLst>
                    <a:ext uri="{9D8B030D-6E8A-4147-A177-3AD203B41FA5}">
                      <a16:colId xmlns:a16="http://schemas.microsoft.com/office/drawing/2014/main" val="2291561676"/>
                    </a:ext>
                  </a:extLst>
                </a:gridCol>
                <a:gridCol w="1045002">
                  <a:extLst>
                    <a:ext uri="{9D8B030D-6E8A-4147-A177-3AD203B41FA5}">
                      <a16:colId xmlns:a16="http://schemas.microsoft.com/office/drawing/2014/main" val="3932956344"/>
                    </a:ext>
                  </a:extLst>
                </a:gridCol>
                <a:gridCol w="1045002">
                  <a:extLst>
                    <a:ext uri="{9D8B030D-6E8A-4147-A177-3AD203B41FA5}">
                      <a16:colId xmlns:a16="http://schemas.microsoft.com/office/drawing/2014/main" val="1288217242"/>
                    </a:ext>
                  </a:extLst>
                </a:gridCol>
                <a:gridCol w="1045002">
                  <a:extLst>
                    <a:ext uri="{9D8B030D-6E8A-4147-A177-3AD203B41FA5}">
                      <a16:colId xmlns:a16="http://schemas.microsoft.com/office/drawing/2014/main" val="1531333033"/>
                    </a:ext>
                  </a:extLst>
                </a:gridCol>
                <a:gridCol w="1045002">
                  <a:extLst>
                    <a:ext uri="{9D8B030D-6E8A-4147-A177-3AD203B41FA5}">
                      <a16:colId xmlns:a16="http://schemas.microsoft.com/office/drawing/2014/main" val="2718191381"/>
                    </a:ext>
                  </a:extLst>
                </a:gridCol>
                <a:gridCol w="1045002">
                  <a:extLst>
                    <a:ext uri="{9D8B030D-6E8A-4147-A177-3AD203B41FA5}">
                      <a16:colId xmlns:a16="http://schemas.microsoft.com/office/drawing/2014/main" val="2214796566"/>
                    </a:ext>
                  </a:extLst>
                </a:gridCol>
                <a:gridCol w="1045002">
                  <a:extLst>
                    <a:ext uri="{9D8B030D-6E8A-4147-A177-3AD203B41FA5}">
                      <a16:colId xmlns:a16="http://schemas.microsoft.com/office/drawing/2014/main" val="3927685866"/>
                    </a:ext>
                  </a:extLst>
                </a:gridCol>
                <a:gridCol w="1110580">
                  <a:extLst>
                    <a:ext uri="{9D8B030D-6E8A-4147-A177-3AD203B41FA5}">
                      <a16:colId xmlns:a16="http://schemas.microsoft.com/office/drawing/2014/main" val="1702559377"/>
                    </a:ext>
                  </a:extLst>
                </a:gridCol>
              </a:tblGrid>
              <a:tr h="357726">
                <a:tc>
                  <a:txBody>
                    <a:bodyPr/>
                    <a:lstStyle/>
                    <a:p>
                      <a:pPr algn="ctr" rtl="0" fontAlgn="ctr">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CpG ID</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Correlation</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P-value</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FDR</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Slope</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Mean</a:t>
                      </a:r>
                    </a:p>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ARSI High</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Mean </a:t>
                      </a:r>
                    </a:p>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ARSI Low</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Position</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Island/Shore</a:t>
                      </a:r>
                    </a:p>
                  </a:txBody>
                  <a:tcPr marL="4763" marR="4763" marT="4763" marB="0" anchor="ctr"/>
                </a:tc>
                <a:tc>
                  <a:txBody>
                    <a:bodyPr/>
                    <a:lstStyle/>
                    <a:p>
                      <a:pPr algn="ctr" fontAlgn="b">
                        <a:buNone/>
                      </a:pPr>
                      <a:r>
                        <a:rPr lang="en-US" sz="1200" b="1" i="0" u="none" strike="noStrike" dirty="0" err="1">
                          <a:solidFill>
                            <a:schemeClr val="bg2"/>
                          </a:solidFill>
                          <a:effectLst/>
                          <a:latin typeface="Times New Roman" panose="02020603050405020304" pitchFamily="18" charset="0"/>
                          <a:cs typeface="Times New Roman" panose="02020603050405020304" pitchFamily="18" charset="0"/>
                        </a:rPr>
                        <a:t>UCSC_RefGene_Group</a:t>
                      </a:r>
                      <a:endParaRPr lang="en-US" sz="1200" b="1" i="0" u="none" strike="noStrike" dirty="0">
                        <a:solidFill>
                          <a:schemeClr val="bg2"/>
                        </a:solidFill>
                        <a:effectLst/>
                        <a:latin typeface="Times New Roman" panose="02020603050405020304" pitchFamily="18" charset="0"/>
                        <a:cs typeface="Times New Roman" panose="02020603050405020304" pitchFamily="18" charset="0"/>
                      </a:endParaRPr>
                    </a:p>
                  </a:txBody>
                  <a:tcPr marL="4763" marR="4763" marT="4763" marB="0" anchor="ctr"/>
                </a:tc>
                <a:extLst>
                  <a:ext uri="{0D108BD9-81ED-4DB2-BD59-A6C34878D82A}">
                    <a16:rowId xmlns:a16="http://schemas.microsoft.com/office/drawing/2014/main" val="2463449155"/>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cg12281328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-0.39625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0.001085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0.013017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-5.99321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0.656769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0.723245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1stExon</a:t>
                      </a:r>
                    </a:p>
                  </a:txBody>
                  <a:tcPr marL="4763" marR="4763" marT="4763" marB="0" anchor="ctr"/>
                </a:tc>
                <a:extLst>
                  <a:ext uri="{0D108BD9-81ED-4DB2-BD59-A6C34878D82A}">
                    <a16:rowId xmlns:a16="http://schemas.microsoft.com/office/drawing/2014/main" val="913621431"/>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cg06873106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-0.29085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0.018749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0.112493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-302.786</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0.989353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0.990145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3123901162"/>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cg10941067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0.252179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0.042707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0.170829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6.634206</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0.858031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0.820479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4010349477"/>
                  </a:ext>
                </a:extLst>
              </a:tr>
            </a:tbl>
          </a:graphicData>
        </a:graphic>
      </p:graphicFrame>
      <p:pic>
        <p:nvPicPr>
          <p:cNvPr id="4" name="Picture 3" descr="A graph of different colored squares&#10;&#10;AI-generated content may be incorrect.">
            <a:extLst>
              <a:ext uri="{FF2B5EF4-FFF2-40B4-BE49-F238E27FC236}">
                <a16:creationId xmlns:a16="http://schemas.microsoft.com/office/drawing/2014/main" id="{821D0E76-35CD-6204-61F1-EC3AC1AA9E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6001" y="3141672"/>
            <a:ext cx="3021502" cy="3021502"/>
          </a:xfrm>
          <a:prstGeom prst="rect">
            <a:avLst/>
          </a:prstGeom>
        </p:spPr>
      </p:pic>
      <p:pic>
        <p:nvPicPr>
          <p:cNvPr id="5" name="Picture 4" descr="A graph of different colored boxes&#10;&#10;AI-generated content may be incorrect.">
            <a:extLst>
              <a:ext uri="{FF2B5EF4-FFF2-40B4-BE49-F238E27FC236}">
                <a16:creationId xmlns:a16="http://schemas.microsoft.com/office/drawing/2014/main" id="{04630E9F-C6CF-6F06-1944-BFAC7EE12D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2547" y="3141672"/>
            <a:ext cx="3021502" cy="3021502"/>
          </a:xfrm>
          <a:prstGeom prst="rect">
            <a:avLst/>
          </a:prstGeom>
        </p:spPr>
      </p:pic>
      <p:pic>
        <p:nvPicPr>
          <p:cNvPr id="6" name="Picture 5" descr="A graph of a graph with a chart and a diagram&#10;&#10;AI-generated content may be incorrect.">
            <a:extLst>
              <a:ext uri="{FF2B5EF4-FFF2-40B4-BE49-F238E27FC236}">
                <a16:creationId xmlns:a16="http://schemas.microsoft.com/office/drawing/2014/main" id="{69EA38F7-C705-BDB1-D3AD-6A937C0A8F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7951" y="3141672"/>
            <a:ext cx="3021502" cy="3021502"/>
          </a:xfrm>
          <a:prstGeom prst="rect">
            <a:avLst/>
          </a:prstGeom>
        </p:spPr>
      </p:pic>
      <p:sp>
        <p:nvSpPr>
          <p:cNvPr id="7" name="TextBox 6">
            <a:extLst>
              <a:ext uri="{FF2B5EF4-FFF2-40B4-BE49-F238E27FC236}">
                <a16:creationId xmlns:a16="http://schemas.microsoft.com/office/drawing/2014/main" id="{6B9CC101-860D-69C7-BADF-43CD65D10A29}"/>
              </a:ext>
            </a:extLst>
          </p:cNvPr>
          <p:cNvSpPr txBox="1"/>
          <p:nvPr/>
        </p:nvSpPr>
        <p:spPr>
          <a:xfrm>
            <a:off x="8497454" y="3033950"/>
            <a:ext cx="2364510" cy="215444"/>
          </a:xfrm>
          <a:prstGeom prst="rect">
            <a:avLst/>
          </a:prstGeom>
          <a:solidFill>
            <a:schemeClr val="bg1"/>
          </a:solidFill>
        </p:spPr>
        <p:txBody>
          <a:bodyPr wrap="square" rtlCol="0">
            <a:spAutoFit/>
          </a:bodyPr>
          <a:lstStyle/>
          <a:p>
            <a:r>
              <a:rPr lang="en-US" sz="800" b="1" dirty="0"/>
              <a:t>Methylation at cg10941067 by ARSI Expression</a:t>
            </a:r>
          </a:p>
        </p:txBody>
      </p:sp>
      <p:sp>
        <p:nvSpPr>
          <p:cNvPr id="8" name="TextBox 7">
            <a:extLst>
              <a:ext uri="{FF2B5EF4-FFF2-40B4-BE49-F238E27FC236}">
                <a16:creationId xmlns:a16="http://schemas.microsoft.com/office/drawing/2014/main" id="{2EF92BC1-45FA-9137-3234-2279E5A8F50B}"/>
              </a:ext>
            </a:extLst>
          </p:cNvPr>
          <p:cNvSpPr txBox="1"/>
          <p:nvPr/>
        </p:nvSpPr>
        <p:spPr>
          <a:xfrm>
            <a:off x="5043056" y="6231230"/>
            <a:ext cx="2262908" cy="215444"/>
          </a:xfrm>
          <a:prstGeom prst="rect">
            <a:avLst/>
          </a:prstGeom>
          <a:noFill/>
        </p:spPr>
        <p:txBody>
          <a:bodyPr wrap="square" rtlCol="0">
            <a:spAutoFit/>
          </a:bodyPr>
          <a:lstStyle/>
          <a:p>
            <a:r>
              <a:rPr lang="en-US" sz="800" dirty="0"/>
              <a:t>*2 outliers removed for better visualization</a:t>
            </a:r>
          </a:p>
        </p:txBody>
      </p:sp>
    </p:spTree>
    <p:extLst>
      <p:ext uri="{BB962C8B-B14F-4D97-AF65-F5344CB8AC3E}">
        <p14:creationId xmlns:p14="http://schemas.microsoft.com/office/powerpoint/2010/main" val="3098305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F63A-3658-3973-68F1-784078DD63B6}"/>
              </a:ext>
            </a:extLst>
          </p:cNvPr>
          <p:cNvSpPr>
            <a:spLocks noGrp="1"/>
          </p:cNvSpPr>
          <p:nvPr>
            <p:ph type="title"/>
          </p:nvPr>
        </p:nvSpPr>
        <p:spPr/>
        <p:txBody>
          <a:bodyPr/>
          <a:lstStyle/>
          <a:p>
            <a:r>
              <a:rPr lang="en-US" dirty="0"/>
              <a:t>Methylation Scatterplot of cg12281328</a:t>
            </a:r>
          </a:p>
        </p:txBody>
      </p:sp>
      <p:pic>
        <p:nvPicPr>
          <p:cNvPr id="4" name="Picture 3" descr="A graph of a number of numbers and a line&#10;&#10;AI-generated content may be incorrect.">
            <a:extLst>
              <a:ext uri="{FF2B5EF4-FFF2-40B4-BE49-F238E27FC236}">
                <a16:creationId xmlns:a16="http://schemas.microsoft.com/office/drawing/2014/main" id="{D0785FBB-569A-1FFD-F531-BA16B886DF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6253" y="1781727"/>
            <a:ext cx="4572000" cy="4572000"/>
          </a:xfrm>
          <a:prstGeom prst="rect">
            <a:avLst/>
          </a:prstGeom>
        </p:spPr>
      </p:pic>
      <p:sp>
        <p:nvSpPr>
          <p:cNvPr id="5" name="TextBox 4">
            <a:extLst>
              <a:ext uri="{FF2B5EF4-FFF2-40B4-BE49-F238E27FC236}">
                <a16:creationId xmlns:a16="http://schemas.microsoft.com/office/drawing/2014/main" id="{BB52CCC0-1E87-1487-DBAC-63BE07B065AC}"/>
              </a:ext>
            </a:extLst>
          </p:cNvPr>
          <p:cNvSpPr txBox="1"/>
          <p:nvPr/>
        </p:nvSpPr>
        <p:spPr>
          <a:xfrm>
            <a:off x="5834358" y="2151590"/>
            <a:ext cx="5519442" cy="2862322"/>
          </a:xfrm>
          <a:prstGeom prst="rect">
            <a:avLst/>
          </a:prstGeom>
          <a:noFill/>
        </p:spPr>
        <p:txBody>
          <a:bodyPr wrap="square" rtlCol="0">
            <a:spAutoFit/>
          </a:bodyPr>
          <a:lstStyle/>
          <a:p>
            <a:r>
              <a:rPr lang="en-US" dirty="0"/>
              <a:t>Several ARSI-linked CpG sites show hypomethylation</a:t>
            </a:r>
          </a:p>
          <a:p>
            <a:endParaRPr lang="en-US" dirty="0"/>
          </a:p>
          <a:p>
            <a:r>
              <a:rPr lang="en-US" dirty="0"/>
              <a:t>cg12281328 shows a strong hypomethylation signal </a:t>
            </a:r>
          </a:p>
          <a:p>
            <a:endParaRPr lang="en-US" dirty="0"/>
          </a:p>
          <a:p>
            <a:r>
              <a:rPr lang="en-US" dirty="0"/>
              <a:t>The pattern suggests that specific CpG sites drive ARSI epigenetic regulation in this tumor type</a:t>
            </a:r>
          </a:p>
          <a:p>
            <a:endParaRPr lang="en-US" dirty="0"/>
          </a:p>
          <a:p>
            <a:r>
              <a:rPr lang="en-US" dirty="0"/>
              <a:t>Overall, the data points to epigenetic upregulation of ARSI, which may contribute to tumor subtype differences and more aggressive tumor behavior</a:t>
            </a:r>
          </a:p>
        </p:txBody>
      </p:sp>
    </p:spTree>
    <p:extLst>
      <p:ext uri="{BB962C8B-B14F-4D97-AF65-F5344CB8AC3E}">
        <p14:creationId xmlns:p14="http://schemas.microsoft.com/office/powerpoint/2010/main" val="159714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29D7B-7154-6BD7-AB53-391CB3EE617C}"/>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5600" kern="1200">
                <a:solidFill>
                  <a:schemeClr val="tx1"/>
                </a:solidFill>
                <a:latin typeface="+mj-lt"/>
                <a:ea typeface="+mj-ea"/>
                <a:cs typeface="+mj-cs"/>
              </a:rPr>
              <a:t>CNV Amplification on Survival Data</a:t>
            </a:r>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a number of patients with amplification&#10;&#10;AI-generated content may be incorrect.">
            <a:extLst>
              <a:ext uri="{FF2B5EF4-FFF2-40B4-BE49-F238E27FC236}">
                <a16:creationId xmlns:a16="http://schemas.microsoft.com/office/drawing/2014/main" id="{FC0B7512-0517-92D8-3ABD-69D3D083D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0572" y="569297"/>
            <a:ext cx="5608830" cy="5608830"/>
          </a:xfrm>
          <a:prstGeom prst="rect">
            <a:avLst/>
          </a:prstGeom>
        </p:spPr>
      </p:pic>
    </p:spTree>
    <p:extLst>
      <p:ext uri="{BB962C8B-B14F-4D97-AF65-F5344CB8AC3E}">
        <p14:creationId xmlns:p14="http://schemas.microsoft.com/office/powerpoint/2010/main" val="451747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0C204-C90D-8176-4B68-3DE0589CC7CA}"/>
              </a:ext>
            </a:extLst>
          </p:cNvPr>
          <p:cNvSpPr>
            <a:spLocks noGrp="1"/>
          </p:cNvSpPr>
          <p:nvPr>
            <p:ph type="title"/>
          </p:nvPr>
        </p:nvSpPr>
        <p:spPr/>
        <p:txBody>
          <a:bodyPr/>
          <a:lstStyle/>
          <a:p>
            <a:r>
              <a:rPr lang="en-US" dirty="0"/>
              <a:t>Panels for Mesenchymal and ECM Genes</a:t>
            </a:r>
          </a:p>
        </p:txBody>
      </p:sp>
      <p:pic>
        <p:nvPicPr>
          <p:cNvPr id="8" name="Picture 7" descr="A red squares with blue and red squares&#10;&#10;AI-generated content may be incorrect.">
            <a:extLst>
              <a:ext uri="{FF2B5EF4-FFF2-40B4-BE49-F238E27FC236}">
                <a16:creationId xmlns:a16="http://schemas.microsoft.com/office/drawing/2014/main" id="{5C1DAB50-04FA-BAA8-7380-DC8259CEC1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9131" y="1551022"/>
            <a:ext cx="4572000" cy="4572000"/>
          </a:xfrm>
          <a:prstGeom prst="rect">
            <a:avLst/>
          </a:prstGeom>
        </p:spPr>
      </p:pic>
      <p:pic>
        <p:nvPicPr>
          <p:cNvPr id="12" name="Picture 11" descr="A red squares with white text&#10;&#10;AI-generated content may be incorrect.">
            <a:extLst>
              <a:ext uri="{FF2B5EF4-FFF2-40B4-BE49-F238E27FC236}">
                <a16:creationId xmlns:a16="http://schemas.microsoft.com/office/drawing/2014/main" id="{BD3321F2-0C02-C257-3C2F-88B644F058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5827" y="1551022"/>
            <a:ext cx="4572000" cy="4572000"/>
          </a:xfrm>
          <a:prstGeom prst="rect">
            <a:avLst/>
          </a:prstGeom>
        </p:spPr>
      </p:pic>
    </p:spTree>
    <p:extLst>
      <p:ext uri="{BB962C8B-B14F-4D97-AF65-F5344CB8AC3E}">
        <p14:creationId xmlns:p14="http://schemas.microsoft.com/office/powerpoint/2010/main" val="623998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31C4F-13B3-90DA-25E1-43B3DF71BC11}"/>
              </a:ext>
            </a:extLst>
          </p:cNvPr>
          <p:cNvSpPr>
            <a:spLocks noGrp="1"/>
          </p:cNvSpPr>
          <p:nvPr>
            <p:ph type="title"/>
          </p:nvPr>
        </p:nvSpPr>
        <p:spPr/>
        <p:txBody>
          <a:bodyPr/>
          <a:lstStyle/>
          <a:p>
            <a:r>
              <a:rPr lang="en-US" dirty="0"/>
              <a:t>RPPA</a:t>
            </a:r>
          </a:p>
        </p:txBody>
      </p:sp>
      <p:graphicFrame>
        <p:nvGraphicFramePr>
          <p:cNvPr id="3" name="Table 2">
            <a:extLst>
              <a:ext uri="{FF2B5EF4-FFF2-40B4-BE49-F238E27FC236}">
                <a16:creationId xmlns:a16="http://schemas.microsoft.com/office/drawing/2014/main" id="{E11D8ABD-B498-912F-5296-30A4F9A275C2}"/>
              </a:ext>
            </a:extLst>
          </p:cNvPr>
          <p:cNvGraphicFramePr>
            <a:graphicFrameLocks noGrp="1"/>
          </p:cNvGraphicFramePr>
          <p:nvPr>
            <p:extLst>
              <p:ext uri="{D42A27DB-BD31-4B8C-83A1-F6EECF244321}">
                <p14:modId xmlns:p14="http://schemas.microsoft.com/office/powerpoint/2010/main" val="3650786428"/>
              </p:ext>
            </p:extLst>
          </p:nvPr>
        </p:nvGraphicFramePr>
        <p:xfrm>
          <a:off x="1813339" y="1690688"/>
          <a:ext cx="8128001" cy="407924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345405022"/>
                    </a:ext>
                  </a:extLst>
                </a:gridCol>
                <a:gridCol w="1161143">
                  <a:extLst>
                    <a:ext uri="{9D8B030D-6E8A-4147-A177-3AD203B41FA5}">
                      <a16:colId xmlns:a16="http://schemas.microsoft.com/office/drawing/2014/main" val="140976221"/>
                    </a:ext>
                  </a:extLst>
                </a:gridCol>
                <a:gridCol w="1161143">
                  <a:extLst>
                    <a:ext uri="{9D8B030D-6E8A-4147-A177-3AD203B41FA5}">
                      <a16:colId xmlns:a16="http://schemas.microsoft.com/office/drawing/2014/main" val="3928965297"/>
                    </a:ext>
                  </a:extLst>
                </a:gridCol>
                <a:gridCol w="1161143">
                  <a:extLst>
                    <a:ext uri="{9D8B030D-6E8A-4147-A177-3AD203B41FA5}">
                      <a16:colId xmlns:a16="http://schemas.microsoft.com/office/drawing/2014/main" val="810006694"/>
                    </a:ext>
                  </a:extLst>
                </a:gridCol>
                <a:gridCol w="1161143">
                  <a:extLst>
                    <a:ext uri="{9D8B030D-6E8A-4147-A177-3AD203B41FA5}">
                      <a16:colId xmlns:a16="http://schemas.microsoft.com/office/drawing/2014/main" val="1774609085"/>
                    </a:ext>
                  </a:extLst>
                </a:gridCol>
                <a:gridCol w="1161143">
                  <a:extLst>
                    <a:ext uri="{9D8B030D-6E8A-4147-A177-3AD203B41FA5}">
                      <a16:colId xmlns:a16="http://schemas.microsoft.com/office/drawing/2014/main" val="2617097008"/>
                    </a:ext>
                  </a:extLst>
                </a:gridCol>
                <a:gridCol w="1161143">
                  <a:extLst>
                    <a:ext uri="{9D8B030D-6E8A-4147-A177-3AD203B41FA5}">
                      <a16:colId xmlns:a16="http://schemas.microsoft.com/office/drawing/2014/main" val="3128978825"/>
                    </a:ext>
                  </a:extLst>
                </a:gridCol>
              </a:tblGrid>
              <a:tr h="370840">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Gene</a:t>
                      </a:r>
                    </a:p>
                  </a:txBody>
                  <a:tcPr marL="4763" marR="4763" marT="4763" marB="0" anchor="ctr"/>
                </a:tc>
                <a:tc>
                  <a:txBody>
                    <a:bodyPr/>
                    <a:lstStyle/>
                    <a:p>
                      <a:pPr algn="ctr" fontAlgn="b">
                        <a:buNone/>
                      </a:pPr>
                      <a:r>
                        <a:rPr lang="en-US" sz="1200" b="1" i="0" u="none" strike="noStrike">
                          <a:solidFill>
                            <a:schemeClr val="bg2"/>
                          </a:solidFill>
                          <a:effectLst/>
                          <a:latin typeface="Times New Roman" panose="02020603050405020304" pitchFamily="18" charset="0"/>
                          <a:cs typeface="Times New Roman" panose="02020603050405020304" pitchFamily="18" charset="0"/>
                        </a:rPr>
                        <a:t>logFC</a:t>
                      </a:r>
                    </a:p>
                  </a:txBody>
                  <a:tcPr marL="4763" marR="4763" marT="4763" marB="0" anchor="ctr"/>
                </a:tc>
                <a:tc>
                  <a:txBody>
                    <a:bodyPr/>
                    <a:lstStyle/>
                    <a:p>
                      <a:pPr algn="ctr" fontAlgn="b">
                        <a:buNone/>
                      </a:pPr>
                      <a:r>
                        <a:rPr lang="en-US" sz="1200" b="1" i="0" u="none" strike="noStrike" dirty="0" err="1">
                          <a:solidFill>
                            <a:schemeClr val="bg2"/>
                          </a:solidFill>
                          <a:effectLst/>
                          <a:latin typeface="Times New Roman" panose="02020603050405020304" pitchFamily="18" charset="0"/>
                          <a:cs typeface="Times New Roman" panose="02020603050405020304" pitchFamily="18" charset="0"/>
                        </a:rPr>
                        <a:t>AveExpr</a:t>
                      </a:r>
                      <a:endParaRPr lang="en-US" sz="1200" b="1" i="0" u="none" strike="noStrike" dirty="0">
                        <a:solidFill>
                          <a:schemeClr val="bg2"/>
                        </a:solidFill>
                        <a:effectLst/>
                        <a:latin typeface="Times New Roman" panose="02020603050405020304" pitchFamily="18" charset="0"/>
                        <a:cs typeface="Times New Roman" panose="02020603050405020304" pitchFamily="18" charset="0"/>
                      </a:endParaRP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t</a:t>
                      </a:r>
                    </a:p>
                  </a:txBody>
                  <a:tcPr marL="4763" marR="4763" marT="4763" marB="0" anchor="ctr"/>
                </a:tc>
                <a:tc>
                  <a:txBody>
                    <a:bodyPr/>
                    <a:lstStyle/>
                    <a:p>
                      <a:pPr algn="ctr" fontAlgn="b">
                        <a:buNone/>
                      </a:pPr>
                      <a:r>
                        <a:rPr lang="en-US" sz="1200" b="1" i="0" u="none" strike="noStrike" dirty="0" err="1">
                          <a:solidFill>
                            <a:schemeClr val="bg2"/>
                          </a:solidFill>
                          <a:effectLst/>
                          <a:latin typeface="Times New Roman" panose="02020603050405020304" pitchFamily="18" charset="0"/>
                          <a:cs typeface="Times New Roman" panose="02020603050405020304" pitchFamily="18" charset="0"/>
                        </a:rPr>
                        <a:t>P.Value</a:t>
                      </a:r>
                      <a:endParaRPr lang="en-US" sz="1200" b="1" i="0" u="none" strike="noStrike" dirty="0">
                        <a:solidFill>
                          <a:schemeClr val="bg2"/>
                        </a:solidFill>
                        <a:effectLst/>
                        <a:latin typeface="Times New Roman" panose="02020603050405020304" pitchFamily="18" charset="0"/>
                        <a:cs typeface="Times New Roman" panose="02020603050405020304" pitchFamily="18" charset="0"/>
                      </a:endParaRPr>
                    </a:p>
                  </a:txBody>
                  <a:tcPr marL="4763" marR="4763" marT="4763" marB="0" anchor="ctr"/>
                </a:tc>
                <a:tc>
                  <a:txBody>
                    <a:bodyPr/>
                    <a:lstStyle/>
                    <a:p>
                      <a:pPr algn="ctr" fontAlgn="b">
                        <a:buNone/>
                      </a:pPr>
                      <a:r>
                        <a:rPr lang="en-US" sz="1200" b="1" i="0" u="none" strike="noStrike" dirty="0" err="1">
                          <a:solidFill>
                            <a:schemeClr val="bg2"/>
                          </a:solidFill>
                          <a:effectLst/>
                          <a:latin typeface="Times New Roman" panose="02020603050405020304" pitchFamily="18" charset="0"/>
                          <a:cs typeface="Times New Roman" panose="02020603050405020304" pitchFamily="18" charset="0"/>
                        </a:rPr>
                        <a:t>adj.P.Val</a:t>
                      </a:r>
                      <a:endParaRPr lang="en-US" sz="1200" b="1" i="0" u="none" strike="noStrike" dirty="0">
                        <a:solidFill>
                          <a:schemeClr val="bg2"/>
                        </a:solidFill>
                        <a:effectLst/>
                        <a:latin typeface="Times New Roman" panose="02020603050405020304" pitchFamily="18" charset="0"/>
                        <a:cs typeface="Times New Roman" panose="02020603050405020304" pitchFamily="18" charset="0"/>
                      </a:endParaRP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B</a:t>
                      </a:r>
                    </a:p>
                  </a:txBody>
                  <a:tcPr marL="4763" marR="4763" marT="4763" marB="0" anchor="ctr"/>
                </a:tc>
                <a:extLst>
                  <a:ext uri="{0D108BD9-81ED-4DB2-BD59-A6C34878D82A}">
                    <a16:rowId xmlns:a16="http://schemas.microsoft.com/office/drawing/2014/main" val="4206022024"/>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ARSI</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6.322222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584.8917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7.99E-139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1.64E-134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215.4937</a:t>
                      </a:r>
                    </a:p>
                  </a:txBody>
                  <a:tcPr marL="4763" marR="4763" marT="4763" marB="0" anchor="ctr"/>
                </a:tc>
                <a:extLst>
                  <a:ext uri="{0D108BD9-81ED-4DB2-BD59-A6C34878D82A}">
                    <a16:rowId xmlns:a16="http://schemas.microsoft.com/office/drawing/2014/main" val="3231299343"/>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ANXA2P2</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0.447674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11.04537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8.753244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4.43E-13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2.81E-09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19.06341</a:t>
                      </a:r>
                    </a:p>
                  </a:txBody>
                  <a:tcPr marL="4763" marR="4763" marT="4763" marB="0" anchor="ctr"/>
                </a:tc>
                <a:extLst>
                  <a:ext uri="{0D108BD9-81ED-4DB2-BD59-A6C34878D82A}">
                    <a16:rowId xmlns:a16="http://schemas.microsoft.com/office/drawing/2014/main" val="3771356666"/>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PQLC3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0.31393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8.192181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8.726516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4.98E-13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2.81E-09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18.94683</a:t>
                      </a:r>
                    </a:p>
                  </a:txBody>
                  <a:tcPr marL="4763" marR="4763" marT="4763" marB="0" anchor="ctr"/>
                </a:tc>
                <a:extLst>
                  <a:ext uri="{0D108BD9-81ED-4DB2-BD59-A6C34878D82A}">
                    <a16:rowId xmlns:a16="http://schemas.microsoft.com/office/drawing/2014/main" val="863326942"/>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TIMP1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0.537266</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12.4349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8.705092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5.47E-13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2.81E-09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18.85337</a:t>
                      </a:r>
                    </a:p>
                  </a:txBody>
                  <a:tcPr marL="4763" marR="4763" marT="4763" marB="0" anchor="ctr"/>
                </a:tc>
                <a:extLst>
                  <a:ext uri="{0D108BD9-81ED-4DB2-BD59-A6C34878D82A}">
                    <a16:rowId xmlns:a16="http://schemas.microsoft.com/office/drawing/2014/main" val="245209742"/>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ANXA2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0.446881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11.98458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8.616827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8.06E-13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3.31E-09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18.46832</a:t>
                      </a:r>
                    </a:p>
                  </a:txBody>
                  <a:tcPr marL="4763" marR="4763" marT="4763" marB="0" anchor="ctr"/>
                </a:tc>
                <a:extLst>
                  <a:ext uri="{0D108BD9-81ED-4DB2-BD59-A6C34878D82A}">
                    <a16:rowId xmlns:a16="http://schemas.microsoft.com/office/drawing/2014/main" val="1829806842"/>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EPHB1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-0.63172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8.727037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-8.09874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7.81E-12</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2.67E-08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16.20953</a:t>
                      </a:r>
                    </a:p>
                  </a:txBody>
                  <a:tcPr marL="4763" marR="4763" marT="4763" marB="0" anchor="ctr"/>
                </a:tc>
                <a:extLst>
                  <a:ext uri="{0D108BD9-81ED-4DB2-BD59-A6C34878D82A}">
                    <a16:rowId xmlns:a16="http://schemas.microsoft.com/office/drawing/2014/main" val="4239033690"/>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FAM176B</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0.308958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7.841022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8.021926</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1.09E-11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3.20E-08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15.87518</a:t>
                      </a:r>
                    </a:p>
                  </a:txBody>
                  <a:tcPr marL="4763" marR="4763" marT="4763" marB="0" anchor="ctr"/>
                </a:tc>
                <a:extLst>
                  <a:ext uri="{0D108BD9-81ED-4DB2-BD59-A6C34878D82A}">
                    <a16:rowId xmlns:a16="http://schemas.microsoft.com/office/drawing/2014/main" val="22660206"/>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ZNF711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-0.3563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9.385268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-7.93537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1.60E-11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4.10E-08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15.49868</a:t>
                      </a:r>
                    </a:p>
                  </a:txBody>
                  <a:tcPr marL="4763" marR="4763" marT="4763" marB="0" anchor="ctr"/>
                </a:tc>
                <a:extLst>
                  <a:ext uri="{0D108BD9-81ED-4DB2-BD59-A6C34878D82A}">
                    <a16:rowId xmlns:a16="http://schemas.microsoft.com/office/drawing/2014/main" val="1272961671"/>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ZC4H2</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-0.30467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8.259059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-7.89805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1.88E-11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4.29E-08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15.33644</a:t>
                      </a:r>
                    </a:p>
                  </a:txBody>
                  <a:tcPr marL="4763" marR="4763" marT="4763" marB="0" anchor="ctr"/>
                </a:tc>
                <a:extLst>
                  <a:ext uri="{0D108BD9-81ED-4DB2-BD59-A6C34878D82A}">
                    <a16:rowId xmlns:a16="http://schemas.microsoft.com/office/drawing/2014/main" val="452500531"/>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SPATS2L</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0.203068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11.20657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7.83181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2.51E-11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4.69E-08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15.04867</a:t>
                      </a:r>
                    </a:p>
                  </a:txBody>
                  <a:tcPr marL="4763" marR="4763" marT="4763" marB="0" anchor="ctr"/>
                </a:tc>
                <a:extLst>
                  <a:ext uri="{0D108BD9-81ED-4DB2-BD59-A6C34878D82A}">
                    <a16:rowId xmlns:a16="http://schemas.microsoft.com/office/drawing/2014/main" val="1498232525"/>
                  </a:ext>
                </a:extLst>
              </a:tr>
            </a:tbl>
          </a:graphicData>
        </a:graphic>
      </p:graphicFrame>
    </p:spTree>
    <p:extLst>
      <p:ext uri="{BB962C8B-B14F-4D97-AF65-F5344CB8AC3E}">
        <p14:creationId xmlns:p14="http://schemas.microsoft.com/office/powerpoint/2010/main" val="467191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02435-8637-B69A-E83B-A473637B250E}"/>
              </a:ext>
            </a:extLst>
          </p:cNvPr>
          <p:cNvSpPr>
            <a:spLocks noGrp="1"/>
          </p:cNvSpPr>
          <p:nvPr>
            <p:ph type="title"/>
          </p:nvPr>
        </p:nvSpPr>
        <p:spPr/>
        <p:txBody>
          <a:bodyPr/>
          <a:lstStyle/>
          <a:p>
            <a:r>
              <a:rPr lang="en-US" dirty="0"/>
              <a:t>Conclusion and Clinical Implications</a:t>
            </a:r>
          </a:p>
        </p:txBody>
      </p:sp>
      <p:sp>
        <p:nvSpPr>
          <p:cNvPr id="3" name="Content Placeholder 2">
            <a:extLst>
              <a:ext uri="{FF2B5EF4-FFF2-40B4-BE49-F238E27FC236}">
                <a16:creationId xmlns:a16="http://schemas.microsoft.com/office/drawing/2014/main" id="{B65C960E-5766-DC24-4CEA-C773DB4A202D}"/>
              </a:ext>
            </a:extLst>
          </p:cNvPr>
          <p:cNvSpPr>
            <a:spLocks noGrp="1"/>
          </p:cNvSpPr>
          <p:nvPr>
            <p:ph idx="1"/>
          </p:nvPr>
        </p:nvSpPr>
        <p:spPr>
          <a:xfrm>
            <a:off x="919120" y="1690687"/>
            <a:ext cx="10515600" cy="4802187"/>
          </a:xfrm>
        </p:spPr>
        <p:txBody>
          <a:bodyPr>
            <a:normAutofit fontScale="62500" lnSpcReduction="20000"/>
          </a:bodyPr>
          <a:lstStyle/>
          <a:p>
            <a:r>
              <a:rPr lang="en-US" dirty="0"/>
              <a:t>Methylation</a:t>
            </a:r>
          </a:p>
          <a:p>
            <a:pPr lvl="1"/>
            <a:r>
              <a:rPr lang="en-US" dirty="0"/>
              <a:t>Proposes mechanisms of upregulation through hypomethylation</a:t>
            </a:r>
          </a:p>
          <a:p>
            <a:r>
              <a:rPr lang="en-US" dirty="0"/>
              <a:t>CNV</a:t>
            </a:r>
          </a:p>
          <a:p>
            <a:pPr lvl="1"/>
            <a:r>
              <a:rPr lang="en-US" dirty="0"/>
              <a:t>Little change in high and low CNV</a:t>
            </a:r>
          </a:p>
          <a:p>
            <a:r>
              <a:rPr lang="en-US" dirty="0"/>
              <a:t>ECM</a:t>
            </a:r>
          </a:p>
          <a:p>
            <a:pPr lvl="1"/>
            <a:r>
              <a:rPr lang="en-US" dirty="0"/>
              <a:t>High correlation with ECM associated genes</a:t>
            </a:r>
          </a:p>
          <a:p>
            <a:r>
              <a:rPr lang="en-US" dirty="0"/>
              <a:t>Mesenchymal</a:t>
            </a:r>
          </a:p>
          <a:p>
            <a:pPr lvl="1"/>
            <a:r>
              <a:rPr lang="en-US" dirty="0"/>
              <a:t>High correlation with other Mesenchymal associated genes</a:t>
            </a:r>
          </a:p>
          <a:p>
            <a:r>
              <a:rPr lang="en-US" dirty="0"/>
              <a:t>RPPA</a:t>
            </a:r>
          </a:p>
          <a:p>
            <a:pPr lvl="1"/>
            <a:endParaRPr lang="en-US" dirty="0"/>
          </a:p>
          <a:p>
            <a:pPr marL="0" indent="0">
              <a:buNone/>
            </a:pPr>
            <a:r>
              <a:rPr lang="en-US" b="1" dirty="0"/>
              <a:t>Conclusion</a:t>
            </a:r>
            <a:r>
              <a:rPr lang="en-US" dirty="0"/>
              <a:t>: </a:t>
            </a:r>
          </a:p>
          <a:p>
            <a:r>
              <a:rPr lang="en-US" dirty="0"/>
              <a:t>Candidate biomarkers can guide patient stratification</a:t>
            </a:r>
          </a:p>
          <a:p>
            <a:r>
              <a:rPr lang="en-US" dirty="0"/>
              <a:t>Identification of a candidate biomarker for GBM: ARSI</a:t>
            </a:r>
          </a:p>
          <a:p>
            <a:pPr lvl="1"/>
            <a:r>
              <a:rPr lang="en-US" dirty="0"/>
              <a:t>Needs to be further explored as it does not hold statistical significance</a:t>
            </a:r>
          </a:p>
          <a:p>
            <a:r>
              <a:rPr lang="en-US" dirty="0"/>
              <a:t>Support targeting therapeutic research:</a:t>
            </a:r>
          </a:p>
          <a:p>
            <a:pPr lvl="1"/>
            <a:r>
              <a:rPr lang="en-US" dirty="0"/>
              <a:t>Methylation</a:t>
            </a:r>
          </a:p>
          <a:p>
            <a:pPr lvl="1"/>
            <a:r>
              <a:rPr lang="en-US" dirty="0"/>
              <a:t>ECM Pathways</a:t>
            </a:r>
          </a:p>
          <a:p>
            <a:endParaRPr lang="en-US" dirty="0"/>
          </a:p>
        </p:txBody>
      </p:sp>
    </p:spTree>
    <p:extLst>
      <p:ext uri="{BB962C8B-B14F-4D97-AF65-F5344CB8AC3E}">
        <p14:creationId xmlns:p14="http://schemas.microsoft.com/office/powerpoint/2010/main" val="1003635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70E8D-B67D-F343-6A74-39367AAFA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6BA78-257E-C268-2B64-1291C30AE148}"/>
              </a:ext>
            </a:extLst>
          </p:cNvPr>
          <p:cNvSpPr>
            <a:spLocks noGrp="1"/>
          </p:cNvSpPr>
          <p:nvPr>
            <p:ph type="title"/>
          </p:nvPr>
        </p:nvSpPr>
        <p:spPr/>
        <p:txBody>
          <a:bodyPr/>
          <a:lstStyle/>
          <a:p>
            <a:r>
              <a:rPr lang="en-US" dirty="0"/>
              <a:t>Limitations and Further Research</a:t>
            </a:r>
          </a:p>
        </p:txBody>
      </p:sp>
      <p:sp>
        <p:nvSpPr>
          <p:cNvPr id="3" name="Content Placeholder 2">
            <a:extLst>
              <a:ext uri="{FF2B5EF4-FFF2-40B4-BE49-F238E27FC236}">
                <a16:creationId xmlns:a16="http://schemas.microsoft.com/office/drawing/2014/main" id="{976DCA0F-0F4A-27CA-73C3-8ED60D9A77DD}"/>
              </a:ext>
            </a:extLst>
          </p:cNvPr>
          <p:cNvSpPr>
            <a:spLocks noGrp="1"/>
          </p:cNvSpPr>
          <p:nvPr>
            <p:ph idx="1"/>
          </p:nvPr>
        </p:nvSpPr>
        <p:spPr>
          <a:xfrm>
            <a:off x="838200" y="1552575"/>
            <a:ext cx="10515600" cy="4624388"/>
          </a:xfrm>
        </p:spPr>
        <p:txBody>
          <a:bodyPr>
            <a:normAutofit/>
          </a:bodyPr>
          <a:lstStyle/>
          <a:p>
            <a:r>
              <a:rPr lang="en-US" sz="2000" dirty="0"/>
              <a:t>Size of GBM Dataset</a:t>
            </a:r>
          </a:p>
          <a:p>
            <a:pPr lvl="1"/>
            <a:r>
              <a:rPr lang="en-US" sz="1800" dirty="0"/>
              <a:t>Limited Statistical power</a:t>
            </a:r>
          </a:p>
          <a:p>
            <a:pPr lvl="1"/>
            <a:r>
              <a:rPr lang="en-US" sz="1800" dirty="0"/>
              <a:t>Wide Confidence Intervals</a:t>
            </a:r>
          </a:p>
          <a:p>
            <a:pPr lvl="1"/>
            <a:r>
              <a:rPr lang="en-US" sz="1800" dirty="0"/>
              <a:t>High FDR → results not statistically significant after correction</a:t>
            </a:r>
          </a:p>
          <a:p>
            <a:r>
              <a:rPr lang="en-US" sz="2000" dirty="0"/>
              <a:t>Observational nature: Functional mechanisms need to be further explored</a:t>
            </a:r>
          </a:p>
          <a:p>
            <a:pPr lvl="1"/>
            <a:r>
              <a:rPr lang="en-US" sz="1800" dirty="0"/>
              <a:t>Methylation</a:t>
            </a:r>
          </a:p>
          <a:p>
            <a:pPr lvl="1"/>
            <a:r>
              <a:rPr lang="en-US" sz="1800" dirty="0"/>
              <a:t>ECM Matrix</a:t>
            </a:r>
          </a:p>
          <a:p>
            <a:pPr marL="0" indent="0">
              <a:buNone/>
            </a:pPr>
            <a:r>
              <a:rPr lang="en-US" sz="2000" b="1" dirty="0"/>
              <a:t>Future Directions:</a:t>
            </a:r>
          </a:p>
          <a:p>
            <a:r>
              <a:rPr lang="en-US" sz="2000" dirty="0"/>
              <a:t>Validation on an external dataset</a:t>
            </a:r>
          </a:p>
          <a:p>
            <a:pPr lvl="1"/>
            <a:r>
              <a:rPr lang="en-US" sz="1800" dirty="0"/>
              <a:t>CGGA: Chinese Glioma Genome Atlas</a:t>
            </a:r>
          </a:p>
          <a:p>
            <a:r>
              <a:rPr lang="en-US" sz="2000" dirty="0"/>
              <a:t>Function/Wet-lab studies: CRISPR, knockdown/overexpression experiments </a:t>
            </a:r>
          </a:p>
          <a:p>
            <a:r>
              <a:rPr lang="en-US" sz="2000" dirty="0"/>
              <a:t>Multi-omics integration</a:t>
            </a:r>
            <a:r>
              <a:rPr lang="en-US" sz="2000" b="1" dirty="0"/>
              <a:t>:</a:t>
            </a:r>
            <a:r>
              <a:rPr lang="en-US" sz="2000" dirty="0"/>
              <a:t> Combine methylation, CNV, and expression data to identify actionable pathways and refine patient stratification</a:t>
            </a:r>
          </a:p>
        </p:txBody>
      </p:sp>
    </p:spTree>
    <p:extLst>
      <p:ext uri="{BB962C8B-B14F-4D97-AF65-F5344CB8AC3E}">
        <p14:creationId xmlns:p14="http://schemas.microsoft.com/office/powerpoint/2010/main" val="3862585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1808D-625F-1132-34F6-6150EAC5651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89C4752-0AB9-9129-324E-5BABA429DBB0}"/>
              </a:ext>
            </a:extLst>
          </p:cNvPr>
          <p:cNvSpPr>
            <a:spLocks noGrp="1"/>
          </p:cNvSpPr>
          <p:nvPr>
            <p:ph idx="1"/>
          </p:nvPr>
        </p:nvSpPr>
        <p:spPr/>
        <p:txBody>
          <a:bodyPr>
            <a:normAutofit/>
          </a:bodyPr>
          <a:lstStyle/>
          <a:p>
            <a:pPr marL="0" indent="0">
              <a:buNone/>
            </a:pPr>
            <a:r>
              <a:rPr lang="en-US" sz="1100" dirty="0">
                <a:latin typeface="Times New Roman" panose="02020603050405020304" pitchFamily="18" charset="0"/>
                <a:cs typeface="Times New Roman" panose="02020603050405020304" pitchFamily="18" charset="0"/>
              </a:rPr>
              <a:t>Barbosa LC, Machado GC, Heringer M, Ferrer VP. Identification of established and novel extracellular matrix components in glioblastoma as targets for angiogenesis and prognosis. Neurogenetics. 2024 Jul;25(3):249-262. </a:t>
            </a:r>
            <a:r>
              <a:rPr lang="en-US" sz="1100" dirty="0" err="1">
                <a:latin typeface="Times New Roman" panose="02020603050405020304" pitchFamily="18" charset="0"/>
                <a:cs typeface="Times New Roman" panose="02020603050405020304" pitchFamily="18" charset="0"/>
              </a:rPr>
              <a:t>doi</a:t>
            </a:r>
            <a:r>
              <a:rPr lang="en-US" sz="1100" dirty="0">
                <a:latin typeface="Times New Roman" panose="02020603050405020304" pitchFamily="18" charset="0"/>
                <a:cs typeface="Times New Roman" panose="02020603050405020304" pitchFamily="18" charset="0"/>
              </a:rPr>
              <a:t>: 10.1007/s10048-024-00763-x. </a:t>
            </a:r>
            <a:r>
              <a:rPr lang="en-US" sz="1100" dirty="0" err="1">
                <a:latin typeface="Times New Roman" panose="02020603050405020304" pitchFamily="18" charset="0"/>
                <a:cs typeface="Times New Roman" panose="02020603050405020304" pitchFamily="18" charset="0"/>
              </a:rPr>
              <a:t>Epub</a:t>
            </a:r>
            <a:r>
              <a:rPr lang="en-US" sz="1100" dirty="0">
                <a:latin typeface="Times New Roman" panose="02020603050405020304" pitchFamily="18" charset="0"/>
                <a:cs typeface="Times New Roman" panose="02020603050405020304" pitchFamily="18" charset="0"/>
              </a:rPr>
              <a:t> 2024 May 22. PMID: 38775886.</a:t>
            </a:r>
          </a:p>
          <a:p>
            <a:pPr marL="0" indent="0">
              <a:buNone/>
            </a:pPr>
            <a:r>
              <a:rPr lang="en-US" sz="1100" dirty="0">
                <a:latin typeface="Times New Roman" panose="02020603050405020304" pitchFamily="18" charset="0"/>
                <a:cs typeface="Times New Roman" panose="02020603050405020304" pitchFamily="18" charset="0"/>
              </a:rPr>
              <a:t>Brown D. V., Daniel P. M., </a:t>
            </a:r>
            <a:r>
              <a:rPr lang="en-US" sz="1100" dirty="0" err="1">
                <a:latin typeface="Times New Roman" panose="02020603050405020304" pitchFamily="18" charset="0"/>
                <a:cs typeface="Times New Roman" panose="02020603050405020304" pitchFamily="18" charset="0"/>
              </a:rPr>
              <a:t>D’Abaco</a:t>
            </a:r>
            <a:r>
              <a:rPr lang="en-US" sz="1100" dirty="0">
                <a:latin typeface="Times New Roman" panose="02020603050405020304" pitchFamily="18" charset="0"/>
                <a:cs typeface="Times New Roman" panose="02020603050405020304" pitchFamily="18" charset="0"/>
              </a:rPr>
              <a:t> G. M., Gogos A., Ng W., </a:t>
            </a:r>
            <a:r>
              <a:rPr lang="en-US" sz="1100" dirty="0" err="1">
                <a:latin typeface="Times New Roman" panose="02020603050405020304" pitchFamily="18" charset="0"/>
                <a:cs typeface="Times New Roman" panose="02020603050405020304" pitchFamily="18" charset="0"/>
              </a:rPr>
              <a:t>Morokoff</a:t>
            </a:r>
            <a:r>
              <a:rPr lang="en-US" sz="1100" dirty="0">
                <a:latin typeface="Times New Roman" panose="02020603050405020304" pitchFamily="18" charset="0"/>
                <a:cs typeface="Times New Roman" panose="02020603050405020304" pitchFamily="18" charset="0"/>
              </a:rPr>
              <a:t> A. P., </a:t>
            </a:r>
            <a:r>
              <a:rPr lang="en-US" sz="1100" dirty="0" err="1">
                <a:latin typeface="Times New Roman" panose="02020603050405020304" pitchFamily="18" charset="0"/>
                <a:cs typeface="Times New Roman" panose="02020603050405020304" pitchFamily="18" charset="0"/>
              </a:rPr>
              <a:t>Mantamadiotis</a:t>
            </a:r>
            <a:r>
              <a:rPr lang="en-US" sz="1100" dirty="0">
                <a:latin typeface="Times New Roman" panose="02020603050405020304" pitchFamily="18" charset="0"/>
                <a:cs typeface="Times New Roman" panose="02020603050405020304" pitchFamily="18" charset="0"/>
              </a:rPr>
              <a:t> T. </a:t>
            </a:r>
            <a:r>
              <a:rPr lang="en-US" sz="1100" dirty="0" err="1">
                <a:latin typeface="Times New Roman" panose="02020603050405020304" pitchFamily="18" charset="0"/>
                <a:cs typeface="Times New Roman" panose="02020603050405020304" pitchFamily="18" charset="0"/>
              </a:rPr>
              <a:t>Coexpression</a:t>
            </a:r>
            <a:r>
              <a:rPr lang="en-US" sz="1100" dirty="0">
                <a:latin typeface="Times New Roman" panose="02020603050405020304" pitchFamily="18" charset="0"/>
                <a:cs typeface="Times New Roman" panose="02020603050405020304" pitchFamily="18" charset="0"/>
              </a:rPr>
              <a:t> analysis of CD133 and CD44 identifies </a:t>
            </a:r>
            <a:r>
              <a:rPr lang="en-US" sz="1100" dirty="0" err="1">
                <a:latin typeface="Times New Roman" panose="02020603050405020304" pitchFamily="18" charset="0"/>
                <a:cs typeface="Times New Roman" panose="02020603050405020304" pitchFamily="18" charset="0"/>
              </a:rPr>
              <a:t>Proneural</a:t>
            </a:r>
            <a:r>
              <a:rPr lang="en-US" sz="1100" dirty="0">
                <a:latin typeface="Times New Roman" panose="02020603050405020304" pitchFamily="18" charset="0"/>
                <a:cs typeface="Times New Roman" panose="02020603050405020304" pitchFamily="18" charset="0"/>
              </a:rPr>
              <a:t> and Mesenchymal subtypes of glioblastoma multiforme. </a:t>
            </a:r>
            <a:r>
              <a:rPr lang="en-US" sz="1100" dirty="0" err="1">
                <a:latin typeface="Times New Roman" panose="02020603050405020304" pitchFamily="18" charset="0"/>
                <a:cs typeface="Times New Roman" panose="02020603050405020304" pitchFamily="18" charset="0"/>
              </a:rPr>
              <a:t>Oncotarget</a:t>
            </a:r>
            <a:r>
              <a:rPr lang="en-US" sz="1100" dirty="0">
                <a:latin typeface="Times New Roman" panose="02020603050405020304" pitchFamily="18" charset="0"/>
                <a:cs typeface="Times New Roman" panose="02020603050405020304" pitchFamily="18" charset="0"/>
              </a:rPr>
              <a:t>. 2015; 6: 6267-6280. Retrieved from </a:t>
            </a:r>
            <a:r>
              <a:rPr lang="en-US" sz="1100" dirty="0">
                <a:latin typeface="Times New Roman" panose="02020603050405020304" pitchFamily="18" charset="0"/>
                <a:cs typeface="Times New Roman" panose="02020603050405020304" pitchFamily="18" charset="0"/>
                <a:hlinkClick r:id="rId3"/>
              </a:rPr>
              <a:t>https://www.oncotarget.com/article/3365/text/</a:t>
            </a:r>
            <a:endParaRPr lang="en-US" sz="1100" dirty="0">
              <a:latin typeface="Times New Roman" panose="02020603050405020304" pitchFamily="18" charset="0"/>
              <a:cs typeface="Times New Roman" panose="02020603050405020304" pitchFamily="18" charset="0"/>
            </a:endParaRPr>
          </a:p>
          <a:p>
            <a:pPr marL="0" indent="0">
              <a:buNone/>
            </a:pPr>
            <a:r>
              <a:rPr lang="en-US" sz="1100" dirty="0">
                <a:latin typeface="Times New Roman" panose="02020603050405020304" pitchFamily="18" charset="0"/>
                <a:cs typeface="Times New Roman" panose="02020603050405020304" pitchFamily="18" charset="0"/>
              </a:rPr>
              <a:t>Behnan J, Finocchiaro G, Hanna G. The landscape of the mesenchymal signature in brain </a:t>
            </a:r>
            <a:r>
              <a:rPr lang="en-US" sz="1100" dirty="0" err="1">
                <a:latin typeface="Times New Roman" panose="02020603050405020304" pitchFamily="18" charset="0"/>
                <a:cs typeface="Times New Roman" panose="02020603050405020304" pitchFamily="18" charset="0"/>
              </a:rPr>
              <a:t>tumours</a:t>
            </a:r>
            <a:r>
              <a:rPr lang="en-US" sz="1100" dirty="0">
                <a:latin typeface="Times New Roman" panose="02020603050405020304" pitchFamily="18" charset="0"/>
                <a:cs typeface="Times New Roman" panose="02020603050405020304" pitchFamily="18" charset="0"/>
              </a:rPr>
              <a:t>. Brain. 2019 Apr 1;142(4):847-866. </a:t>
            </a:r>
            <a:r>
              <a:rPr lang="en-US" sz="1100" dirty="0" err="1">
                <a:latin typeface="Times New Roman" panose="02020603050405020304" pitchFamily="18" charset="0"/>
                <a:cs typeface="Times New Roman" panose="02020603050405020304" pitchFamily="18" charset="0"/>
              </a:rPr>
              <a:t>doi</a:t>
            </a:r>
            <a:r>
              <a:rPr lang="en-US" sz="1100" dirty="0">
                <a:latin typeface="Times New Roman" panose="02020603050405020304" pitchFamily="18" charset="0"/>
                <a:cs typeface="Times New Roman" panose="02020603050405020304" pitchFamily="18" charset="0"/>
              </a:rPr>
              <a:t>: 10.1093/brain/awz044. PMID: 30946477; PMCID: PMC6485274.</a:t>
            </a:r>
          </a:p>
          <a:p>
            <a:pPr marL="0" indent="0">
              <a:buNone/>
            </a:pPr>
            <a:r>
              <a:rPr lang="en-US" sz="1100" dirty="0">
                <a:latin typeface="Times New Roman" panose="02020603050405020304" pitchFamily="18" charset="0"/>
                <a:cs typeface="Times New Roman" panose="02020603050405020304" pitchFamily="18" charset="0"/>
              </a:rPr>
              <a:t>Cescon M, Rampazzo E, Bresolin S, Da Ros F, Manfreda L, Cani A, Della </a:t>
            </a:r>
            <a:r>
              <a:rPr lang="en-US" sz="1100" dirty="0" err="1">
                <a:latin typeface="Times New Roman" panose="02020603050405020304" pitchFamily="18" charset="0"/>
                <a:cs typeface="Times New Roman" panose="02020603050405020304" pitchFamily="18" charset="0"/>
              </a:rPr>
              <a:t>Puppa</a:t>
            </a:r>
            <a:r>
              <a:rPr lang="en-US" sz="1100" dirty="0">
                <a:latin typeface="Times New Roman" panose="02020603050405020304" pitchFamily="18" charset="0"/>
                <a:cs typeface="Times New Roman" panose="02020603050405020304" pitchFamily="18" charset="0"/>
              </a:rPr>
              <a:t> A, </a:t>
            </a:r>
            <a:r>
              <a:rPr lang="en-US" sz="1100" dirty="0" err="1">
                <a:latin typeface="Times New Roman" panose="02020603050405020304" pitchFamily="18" charset="0"/>
                <a:cs typeface="Times New Roman" panose="02020603050405020304" pitchFamily="18" charset="0"/>
              </a:rPr>
              <a:t>Braghetta</a:t>
            </a:r>
            <a:r>
              <a:rPr lang="en-US" sz="1100" dirty="0">
                <a:latin typeface="Times New Roman" panose="02020603050405020304" pitchFamily="18" charset="0"/>
                <a:cs typeface="Times New Roman" panose="02020603050405020304" pitchFamily="18" charset="0"/>
              </a:rPr>
              <a:t> P, </a:t>
            </a:r>
            <a:r>
              <a:rPr lang="en-US" sz="1100" dirty="0" err="1">
                <a:latin typeface="Times New Roman" panose="02020603050405020304" pitchFamily="18" charset="0"/>
                <a:cs typeface="Times New Roman" panose="02020603050405020304" pitchFamily="18" charset="0"/>
              </a:rPr>
              <a:t>Bonaldo</a:t>
            </a:r>
            <a:r>
              <a:rPr lang="en-US" sz="1100" dirty="0">
                <a:latin typeface="Times New Roman" panose="02020603050405020304" pitchFamily="18" charset="0"/>
                <a:cs typeface="Times New Roman" panose="02020603050405020304" pitchFamily="18" charset="0"/>
              </a:rPr>
              <a:t> P, </a:t>
            </a:r>
            <a:r>
              <a:rPr lang="en-US" sz="1100" dirty="0" err="1">
                <a:latin typeface="Times New Roman" panose="02020603050405020304" pitchFamily="18" charset="0"/>
                <a:cs typeface="Times New Roman" panose="02020603050405020304" pitchFamily="18" charset="0"/>
              </a:rPr>
              <a:t>Persano</a:t>
            </a:r>
            <a:r>
              <a:rPr lang="en-US" sz="1100" dirty="0">
                <a:latin typeface="Times New Roman" panose="02020603050405020304" pitchFamily="18" charset="0"/>
                <a:cs typeface="Times New Roman" panose="02020603050405020304" pitchFamily="18" charset="0"/>
              </a:rPr>
              <a:t> L. Collagen VI sustains cell stemness and chemotherapy resistance in glioblastoma. Cell Mol Life Sci. 2023 Jul 28;80(8):233. </a:t>
            </a:r>
            <a:r>
              <a:rPr lang="en-US" sz="1100" dirty="0" err="1">
                <a:latin typeface="Times New Roman" panose="02020603050405020304" pitchFamily="18" charset="0"/>
                <a:cs typeface="Times New Roman" panose="02020603050405020304" pitchFamily="18" charset="0"/>
              </a:rPr>
              <a:t>doi</a:t>
            </a:r>
            <a:r>
              <a:rPr lang="en-US" sz="1100" dirty="0">
                <a:latin typeface="Times New Roman" panose="02020603050405020304" pitchFamily="18" charset="0"/>
                <a:cs typeface="Times New Roman" panose="02020603050405020304" pitchFamily="18" charset="0"/>
              </a:rPr>
              <a:t>: 10.1007/s00018-023-04887-5. PMID: 37505240; PMCID: PMC10382393.</a:t>
            </a:r>
          </a:p>
          <a:p>
            <a:pPr marL="0" indent="0">
              <a:buNone/>
            </a:pPr>
            <a:r>
              <a:rPr lang="en-US" sz="1100" dirty="0">
                <a:latin typeface="Times New Roman" panose="02020603050405020304" pitchFamily="18" charset="0"/>
                <a:cs typeface="Times New Roman" panose="02020603050405020304" pitchFamily="18" charset="0"/>
              </a:rPr>
              <a:t>Chen X, Chen X, Xie W, Ge H, He H, Zhang A, Zheng J. BRAF-activated ARSI suppressed EREG-mediated ferroptosis to promote BRAF</a:t>
            </a:r>
            <a:r>
              <a:rPr lang="en-US" sz="1100" baseline="30000" dirty="0">
                <a:latin typeface="Times New Roman" panose="02020603050405020304" pitchFamily="18" charset="0"/>
                <a:cs typeface="Times New Roman" panose="02020603050405020304" pitchFamily="18" charset="0"/>
              </a:rPr>
              <a:t>V600E</a:t>
            </a:r>
            <a:r>
              <a:rPr lang="en-US" sz="1100" dirty="0">
                <a:latin typeface="Times New Roman" panose="02020603050405020304" pitchFamily="18" charset="0"/>
                <a:cs typeface="Times New Roman" panose="02020603050405020304" pitchFamily="18" charset="0"/>
              </a:rPr>
              <a:t> (mutant) papillary thyroid carcinoma progression and sorafenib resistance. Int J Biol Sci. 2025 Jan 1;21(1):128-142. </a:t>
            </a:r>
            <a:r>
              <a:rPr lang="en-US" sz="1100" dirty="0" err="1">
                <a:latin typeface="Times New Roman" panose="02020603050405020304" pitchFamily="18" charset="0"/>
                <a:cs typeface="Times New Roman" panose="02020603050405020304" pitchFamily="18" charset="0"/>
              </a:rPr>
              <a:t>doi</a:t>
            </a:r>
            <a:r>
              <a:rPr lang="en-US" sz="1100" dirty="0">
                <a:latin typeface="Times New Roman" panose="02020603050405020304" pitchFamily="18" charset="0"/>
                <a:cs typeface="Times New Roman" panose="02020603050405020304" pitchFamily="18" charset="0"/>
              </a:rPr>
              <a:t>: 10.7150/ijbs.99423. PMID: 39744439; PMCID: PMC11667812.</a:t>
            </a:r>
          </a:p>
          <a:p>
            <a:pPr marL="0" indent="0">
              <a:buNone/>
            </a:pPr>
            <a:r>
              <a:rPr lang="en-US" sz="1100" dirty="0">
                <a:latin typeface="Times New Roman" panose="02020603050405020304" pitchFamily="18" charset="0"/>
                <a:cs typeface="Times New Roman" panose="02020603050405020304" pitchFamily="18" charset="0"/>
              </a:rPr>
              <a:t>Shen Y, Wei Z, Zhou C, Song J, Wang J, Wang J, Wu L, Fang S, Shen Z. Arylsulfatase I is a prognostic biomarker for head and neck squamous cell carcinoma and Pan-cancer. J Clin Lab Anal. 2022 Sep;36(9):e24600. </a:t>
            </a:r>
            <a:r>
              <a:rPr lang="en-US" sz="1100" dirty="0" err="1">
                <a:latin typeface="Times New Roman" panose="02020603050405020304" pitchFamily="18" charset="0"/>
                <a:cs typeface="Times New Roman" panose="02020603050405020304" pitchFamily="18" charset="0"/>
              </a:rPr>
              <a:t>doi</a:t>
            </a:r>
            <a:r>
              <a:rPr lang="en-US" sz="1100" dirty="0">
                <a:latin typeface="Times New Roman" panose="02020603050405020304" pitchFamily="18" charset="0"/>
                <a:cs typeface="Times New Roman" panose="02020603050405020304" pitchFamily="18" charset="0"/>
              </a:rPr>
              <a:t>: 10.1002/jcla.24600. </a:t>
            </a:r>
            <a:r>
              <a:rPr lang="en-US" sz="1100" dirty="0" err="1">
                <a:latin typeface="Times New Roman" panose="02020603050405020304" pitchFamily="18" charset="0"/>
                <a:cs typeface="Times New Roman" panose="02020603050405020304" pitchFamily="18" charset="0"/>
              </a:rPr>
              <a:t>Epub</a:t>
            </a:r>
            <a:r>
              <a:rPr lang="en-US" sz="1100" dirty="0">
                <a:latin typeface="Times New Roman" panose="02020603050405020304" pitchFamily="18" charset="0"/>
                <a:cs typeface="Times New Roman" panose="02020603050405020304" pitchFamily="18" charset="0"/>
              </a:rPr>
              <a:t> 2022 Jul 23. PMID: 35870182; PMCID: PMC9459304</a:t>
            </a:r>
          </a:p>
          <a:p>
            <a:pPr marL="0" indent="0">
              <a:buNone/>
            </a:pPr>
            <a:r>
              <a:rPr lang="en-US" sz="1100" dirty="0" err="1">
                <a:latin typeface="Times New Roman" panose="02020603050405020304" pitchFamily="18" charset="0"/>
                <a:cs typeface="Times New Roman" panose="02020603050405020304" pitchFamily="18" charset="0"/>
              </a:rPr>
              <a:t>Verhaak</a:t>
            </a:r>
            <a:r>
              <a:rPr lang="en-US" sz="1100" dirty="0">
                <a:latin typeface="Times New Roman" panose="02020603050405020304" pitchFamily="18" charset="0"/>
                <a:cs typeface="Times New Roman" panose="02020603050405020304" pitchFamily="18" charset="0"/>
              </a:rPr>
              <a:t> RG, Hoadley KA, Purdom E, Wang V, Qi Y, Wilkerson MD, Miller CR, Ding L, Golub T, </a:t>
            </a:r>
            <a:r>
              <a:rPr lang="en-US" sz="1100" dirty="0" err="1">
                <a:latin typeface="Times New Roman" panose="02020603050405020304" pitchFamily="18" charset="0"/>
                <a:cs typeface="Times New Roman" panose="02020603050405020304" pitchFamily="18" charset="0"/>
              </a:rPr>
              <a:t>Mesirov</a:t>
            </a:r>
            <a:r>
              <a:rPr lang="en-US" sz="1100" dirty="0">
                <a:latin typeface="Times New Roman" panose="02020603050405020304" pitchFamily="18" charset="0"/>
                <a:cs typeface="Times New Roman" panose="02020603050405020304" pitchFamily="18" charset="0"/>
              </a:rPr>
              <a:t> JP, Alexe G, Lawrence M, O'Kelly M, Tamayo P, Weir BA, Gabriel S, Winckler W, Gupta S, Jakkula L, Feiler HS, Hodgson JG, James CD, Sarkaria JN, Brennan C, Kahn A, Spellman PT, Wilson RK, Speed TP, Gray JW, Meyerson M, Getz G, Perou CM, Hayes DN; Cancer Genome Atlas Research Network. Integrated genomic analysis identifies clinically relevant subtypes of glioblastoma characterized by abnormalities in PDGFRA, IDH1, EGFR, and NF1. Cancer Cell. 2010 Jan 19;17(1):98-110. </a:t>
            </a:r>
            <a:r>
              <a:rPr lang="en-US" sz="1100" dirty="0" err="1">
                <a:latin typeface="Times New Roman" panose="02020603050405020304" pitchFamily="18" charset="0"/>
                <a:cs typeface="Times New Roman" panose="02020603050405020304" pitchFamily="18" charset="0"/>
              </a:rPr>
              <a:t>doi</a:t>
            </a:r>
            <a:r>
              <a:rPr lang="en-US" sz="1100" dirty="0">
                <a:latin typeface="Times New Roman" panose="02020603050405020304" pitchFamily="18" charset="0"/>
                <a:cs typeface="Times New Roman" panose="02020603050405020304" pitchFamily="18" charset="0"/>
              </a:rPr>
              <a:t>: 10.1016/j.ccr.2009.12.020. PMID: 20129251; PMCID: PMC2818769.</a:t>
            </a:r>
          </a:p>
          <a:p>
            <a:endParaRPr lang="en-US" sz="1300" dirty="0"/>
          </a:p>
        </p:txBody>
      </p:sp>
    </p:spTree>
    <p:extLst>
      <p:ext uri="{BB962C8B-B14F-4D97-AF65-F5344CB8AC3E}">
        <p14:creationId xmlns:p14="http://schemas.microsoft.com/office/powerpoint/2010/main" val="3531950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BA83B-FD08-F107-ABE0-CF35C509A903}"/>
              </a:ext>
            </a:extLst>
          </p:cNvPr>
          <p:cNvSpPr>
            <a:spLocks noGrp="1"/>
          </p:cNvSpPr>
          <p:nvPr>
            <p:ph type="title"/>
          </p:nvPr>
        </p:nvSpPr>
        <p:spPr/>
        <p:txBody>
          <a:bodyPr/>
          <a:lstStyle/>
          <a:p>
            <a:r>
              <a:rPr lang="en-US" dirty="0"/>
              <a:t>Supplementary: Datasets used</a:t>
            </a:r>
          </a:p>
        </p:txBody>
      </p:sp>
      <p:sp>
        <p:nvSpPr>
          <p:cNvPr id="3" name="Content Placeholder 2">
            <a:extLst>
              <a:ext uri="{FF2B5EF4-FFF2-40B4-BE49-F238E27FC236}">
                <a16:creationId xmlns:a16="http://schemas.microsoft.com/office/drawing/2014/main" id="{0847660B-4EA1-F990-DBA8-5A3D081921C4}"/>
              </a:ext>
            </a:extLst>
          </p:cNvPr>
          <p:cNvSpPr>
            <a:spLocks noGrp="1"/>
          </p:cNvSpPr>
          <p:nvPr>
            <p:ph idx="1"/>
          </p:nvPr>
        </p:nvSpPr>
        <p:spPr/>
        <p:txBody>
          <a:bodyPr/>
          <a:lstStyle/>
          <a:p>
            <a:r>
              <a:rPr lang="it-IT" dirty="0">
                <a:hlinkClick r:id="rId3"/>
              </a:rPr>
              <a:t>TCGA Glioblastoma (GBM)</a:t>
            </a:r>
            <a:r>
              <a:rPr lang="it-IT" dirty="0"/>
              <a:t> (25 datasets)</a:t>
            </a:r>
          </a:p>
          <a:p>
            <a:r>
              <a:rPr lang="en-US" dirty="0" err="1">
                <a:hlinkClick r:id="rId4"/>
              </a:rPr>
              <a:t>IlluminaHiSeq</a:t>
            </a:r>
            <a:r>
              <a:rPr lang="en-US" dirty="0"/>
              <a:t> (n=172) TCGA Hub</a:t>
            </a:r>
          </a:p>
          <a:p>
            <a:r>
              <a:rPr lang="en-US" dirty="0">
                <a:hlinkClick r:id="rId5"/>
              </a:rPr>
              <a:t>Curated survival data</a:t>
            </a:r>
            <a:r>
              <a:rPr lang="en-US" dirty="0"/>
              <a:t> (n=602) TCGA Hub</a:t>
            </a:r>
          </a:p>
          <a:p>
            <a:r>
              <a:rPr lang="en-US" dirty="0">
                <a:hlinkClick r:id="rId6"/>
              </a:rPr>
              <a:t>Phenotypes</a:t>
            </a:r>
            <a:r>
              <a:rPr lang="en-US" dirty="0"/>
              <a:t> (n=629) TCGA Hub</a:t>
            </a:r>
          </a:p>
          <a:p>
            <a:r>
              <a:rPr lang="en-US" dirty="0">
                <a:hlinkClick r:id="rId7"/>
              </a:rPr>
              <a:t>Methylation450k</a:t>
            </a:r>
            <a:r>
              <a:rPr lang="en-US" dirty="0"/>
              <a:t> (n=155) TCGA Hub</a:t>
            </a:r>
          </a:p>
          <a:p>
            <a:r>
              <a:rPr lang="pt-BR" dirty="0">
                <a:hlinkClick r:id="rId8"/>
              </a:rPr>
              <a:t>RPPA</a:t>
            </a:r>
            <a:r>
              <a:rPr lang="pt-BR" dirty="0"/>
              <a:t> (n=244) TCGA Hub</a:t>
            </a:r>
            <a:endParaRPr lang="en-US" dirty="0"/>
          </a:p>
        </p:txBody>
      </p:sp>
    </p:spTree>
    <p:extLst>
      <p:ext uri="{BB962C8B-B14F-4D97-AF65-F5344CB8AC3E}">
        <p14:creationId xmlns:p14="http://schemas.microsoft.com/office/powerpoint/2010/main" val="3845022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96A73-FDEE-DBC2-3240-A5909C1DD164}"/>
              </a:ext>
            </a:extLst>
          </p:cNvPr>
          <p:cNvSpPr>
            <a:spLocks noGrp="1"/>
          </p:cNvSpPr>
          <p:nvPr>
            <p:ph type="title"/>
          </p:nvPr>
        </p:nvSpPr>
        <p:spPr/>
        <p:txBody>
          <a:bodyPr/>
          <a:lstStyle/>
          <a:p>
            <a:r>
              <a:rPr lang="en-US" dirty="0"/>
              <a:t>Supplementary: Univariate Analysis</a:t>
            </a:r>
          </a:p>
        </p:txBody>
      </p:sp>
      <p:graphicFrame>
        <p:nvGraphicFramePr>
          <p:cNvPr id="4" name="Content Placeholder 3">
            <a:extLst>
              <a:ext uri="{FF2B5EF4-FFF2-40B4-BE49-F238E27FC236}">
                <a16:creationId xmlns:a16="http://schemas.microsoft.com/office/drawing/2014/main" id="{39414C4C-8759-A72D-E721-F320BFB4ABAB}"/>
              </a:ext>
            </a:extLst>
          </p:cNvPr>
          <p:cNvGraphicFramePr>
            <a:graphicFrameLocks noGrp="1"/>
          </p:cNvGraphicFramePr>
          <p:nvPr>
            <p:ph idx="1"/>
            <p:extLst>
              <p:ext uri="{D42A27DB-BD31-4B8C-83A1-F6EECF244321}">
                <p14:modId xmlns:p14="http://schemas.microsoft.com/office/powerpoint/2010/main" val="1690715090"/>
              </p:ext>
            </p:extLst>
          </p:nvPr>
        </p:nvGraphicFramePr>
        <p:xfrm>
          <a:off x="838200" y="1825625"/>
          <a:ext cx="10515600" cy="40792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12492023"/>
                    </a:ext>
                  </a:extLst>
                </a:gridCol>
                <a:gridCol w="1752600">
                  <a:extLst>
                    <a:ext uri="{9D8B030D-6E8A-4147-A177-3AD203B41FA5}">
                      <a16:colId xmlns:a16="http://schemas.microsoft.com/office/drawing/2014/main" val="3571518179"/>
                    </a:ext>
                  </a:extLst>
                </a:gridCol>
                <a:gridCol w="1752600">
                  <a:extLst>
                    <a:ext uri="{9D8B030D-6E8A-4147-A177-3AD203B41FA5}">
                      <a16:colId xmlns:a16="http://schemas.microsoft.com/office/drawing/2014/main" val="2893684618"/>
                    </a:ext>
                  </a:extLst>
                </a:gridCol>
                <a:gridCol w="1752600">
                  <a:extLst>
                    <a:ext uri="{9D8B030D-6E8A-4147-A177-3AD203B41FA5}">
                      <a16:colId xmlns:a16="http://schemas.microsoft.com/office/drawing/2014/main" val="3001818240"/>
                    </a:ext>
                  </a:extLst>
                </a:gridCol>
                <a:gridCol w="1752600">
                  <a:extLst>
                    <a:ext uri="{9D8B030D-6E8A-4147-A177-3AD203B41FA5}">
                      <a16:colId xmlns:a16="http://schemas.microsoft.com/office/drawing/2014/main" val="312035211"/>
                    </a:ext>
                  </a:extLst>
                </a:gridCol>
                <a:gridCol w="1752600">
                  <a:extLst>
                    <a:ext uri="{9D8B030D-6E8A-4147-A177-3AD203B41FA5}">
                      <a16:colId xmlns:a16="http://schemas.microsoft.com/office/drawing/2014/main" val="3654030560"/>
                    </a:ext>
                  </a:extLst>
                </a:gridCol>
              </a:tblGrid>
              <a:tr h="370840">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Gene</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HR</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LCI</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UCI</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PVAL</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FDR</a:t>
                      </a:r>
                    </a:p>
                  </a:txBody>
                  <a:tcPr marL="4763" marR="4763" marT="4763" marB="0" anchor="ctr"/>
                </a:tc>
                <a:extLst>
                  <a:ext uri="{0D108BD9-81ED-4DB2-BD59-A6C34878D82A}">
                    <a16:rowId xmlns:a16="http://schemas.microsoft.com/office/drawing/2014/main" val="1284376672"/>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NSUN5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2.188749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1.568035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3.055175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4.15E-06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0.083119</a:t>
                      </a:r>
                    </a:p>
                  </a:txBody>
                  <a:tcPr marL="4763" marR="4763" marT="4763" marB="0" anchor="ctr"/>
                </a:tc>
                <a:extLst>
                  <a:ext uri="{0D108BD9-81ED-4DB2-BD59-A6C34878D82A}">
                    <a16:rowId xmlns:a16="http://schemas.microsoft.com/office/drawing/2014/main" val="2823313115"/>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LRRC61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1.225964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1.119266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1.342834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1.16E-05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0.115874</a:t>
                      </a:r>
                    </a:p>
                  </a:txBody>
                  <a:tcPr marL="4763" marR="4763" marT="4763" marB="0" anchor="ctr"/>
                </a:tc>
                <a:extLst>
                  <a:ext uri="{0D108BD9-81ED-4DB2-BD59-A6C34878D82A}">
                    <a16:rowId xmlns:a16="http://schemas.microsoft.com/office/drawing/2014/main" val="3598813766"/>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NKX3-1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1.480686</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1.224185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1.790933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5.25E-05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3644240361"/>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C21orf96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2.505914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1.609502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3.901582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4.76E-05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3147652634"/>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RPL39L</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1.252385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1.125155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1.394002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3.83E-05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1087352489"/>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OR2AG1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28.7064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5.881135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140.1188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3.32E-05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765071401"/>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STATH</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151.4185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13.44155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1705.722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4.85E-05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3520074002"/>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DNAJC30</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2.378203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1.57078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3.600662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4.24E-05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3953144599"/>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OSMR</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1.327997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1.15855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1.522226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4.64E-05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0.116802</a:t>
                      </a:r>
                    </a:p>
                  </a:txBody>
                  <a:tcPr marL="4763" marR="4763" marT="4763" marB="0" anchor="ctr"/>
                </a:tc>
                <a:extLst>
                  <a:ext uri="{0D108BD9-81ED-4DB2-BD59-A6C34878D82A}">
                    <a16:rowId xmlns:a16="http://schemas.microsoft.com/office/drawing/2014/main" val="3292261374"/>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BMPR1A</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0.506892</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0.363727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0.706409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6.01E-05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0.120235</a:t>
                      </a:r>
                    </a:p>
                  </a:txBody>
                  <a:tcPr marL="4763" marR="4763" marT="4763" marB="0" anchor="ctr"/>
                </a:tc>
                <a:extLst>
                  <a:ext uri="{0D108BD9-81ED-4DB2-BD59-A6C34878D82A}">
                    <a16:rowId xmlns:a16="http://schemas.microsoft.com/office/drawing/2014/main" val="3998459710"/>
                  </a:ext>
                </a:extLst>
              </a:tr>
            </a:tbl>
          </a:graphicData>
        </a:graphic>
      </p:graphicFrame>
    </p:spTree>
    <p:extLst>
      <p:ext uri="{BB962C8B-B14F-4D97-AF65-F5344CB8AC3E}">
        <p14:creationId xmlns:p14="http://schemas.microsoft.com/office/powerpoint/2010/main" val="3000529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39F4E-8EFB-3E50-0868-FE894535A482}"/>
              </a:ext>
            </a:extLst>
          </p:cNvPr>
          <p:cNvSpPr>
            <a:spLocks noGrp="1"/>
          </p:cNvSpPr>
          <p:nvPr>
            <p:ph type="title"/>
          </p:nvPr>
        </p:nvSpPr>
        <p:spPr/>
        <p:txBody>
          <a:bodyPr/>
          <a:lstStyle/>
          <a:p>
            <a:r>
              <a:rPr lang="en-US" dirty="0"/>
              <a:t>Supplementary: Multivariate Analysis</a:t>
            </a:r>
          </a:p>
        </p:txBody>
      </p:sp>
      <p:graphicFrame>
        <p:nvGraphicFramePr>
          <p:cNvPr id="4" name="Content Placeholder 3">
            <a:extLst>
              <a:ext uri="{FF2B5EF4-FFF2-40B4-BE49-F238E27FC236}">
                <a16:creationId xmlns:a16="http://schemas.microsoft.com/office/drawing/2014/main" id="{51915347-6E35-777A-52D1-D09D6A475418}"/>
              </a:ext>
            </a:extLst>
          </p:cNvPr>
          <p:cNvGraphicFramePr>
            <a:graphicFrameLocks noGrp="1"/>
          </p:cNvGraphicFramePr>
          <p:nvPr>
            <p:ph idx="1"/>
            <p:extLst>
              <p:ext uri="{D42A27DB-BD31-4B8C-83A1-F6EECF244321}">
                <p14:modId xmlns:p14="http://schemas.microsoft.com/office/powerpoint/2010/main" val="2408425609"/>
              </p:ext>
            </p:extLst>
          </p:nvPr>
        </p:nvGraphicFramePr>
        <p:xfrm>
          <a:off x="838200" y="1825625"/>
          <a:ext cx="10515600" cy="40792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893511857"/>
                    </a:ext>
                  </a:extLst>
                </a:gridCol>
                <a:gridCol w="1752600">
                  <a:extLst>
                    <a:ext uri="{9D8B030D-6E8A-4147-A177-3AD203B41FA5}">
                      <a16:colId xmlns:a16="http://schemas.microsoft.com/office/drawing/2014/main" val="3230797259"/>
                    </a:ext>
                  </a:extLst>
                </a:gridCol>
                <a:gridCol w="1752600">
                  <a:extLst>
                    <a:ext uri="{9D8B030D-6E8A-4147-A177-3AD203B41FA5}">
                      <a16:colId xmlns:a16="http://schemas.microsoft.com/office/drawing/2014/main" val="2024458320"/>
                    </a:ext>
                  </a:extLst>
                </a:gridCol>
                <a:gridCol w="1752600">
                  <a:extLst>
                    <a:ext uri="{9D8B030D-6E8A-4147-A177-3AD203B41FA5}">
                      <a16:colId xmlns:a16="http://schemas.microsoft.com/office/drawing/2014/main" val="2829694079"/>
                    </a:ext>
                  </a:extLst>
                </a:gridCol>
                <a:gridCol w="1752600">
                  <a:extLst>
                    <a:ext uri="{9D8B030D-6E8A-4147-A177-3AD203B41FA5}">
                      <a16:colId xmlns:a16="http://schemas.microsoft.com/office/drawing/2014/main" val="3393057337"/>
                    </a:ext>
                  </a:extLst>
                </a:gridCol>
                <a:gridCol w="1752600">
                  <a:extLst>
                    <a:ext uri="{9D8B030D-6E8A-4147-A177-3AD203B41FA5}">
                      <a16:colId xmlns:a16="http://schemas.microsoft.com/office/drawing/2014/main" val="2203894326"/>
                    </a:ext>
                  </a:extLst>
                </a:gridCol>
              </a:tblGrid>
              <a:tr h="370840">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Gene</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HR</a:t>
                      </a:r>
                    </a:p>
                  </a:txBody>
                  <a:tcPr marL="4763" marR="4763" marT="4763" marB="0" anchor="ctr"/>
                </a:tc>
                <a:tc>
                  <a:txBody>
                    <a:bodyPr/>
                    <a:lstStyle/>
                    <a:p>
                      <a:pPr algn="ctr" fontAlgn="b">
                        <a:buNone/>
                      </a:pPr>
                      <a:r>
                        <a:rPr lang="en-US" sz="1200" b="1" i="0" u="none" strike="noStrike">
                          <a:solidFill>
                            <a:schemeClr val="bg1"/>
                          </a:solidFill>
                          <a:effectLst/>
                          <a:latin typeface="Times New Roman" panose="02020603050405020304" pitchFamily="18" charset="0"/>
                          <a:cs typeface="Times New Roman" panose="02020603050405020304" pitchFamily="18" charset="0"/>
                        </a:rPr>
                        <a:t>LCI</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UCI</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PVAL</a:t>
                      </a:r>
                    </a:p>
                  </a:txBody>
                  <a:tcPr marL="4763" marR="4763" marT="4763" marB="0" anchor="ctr"/>
                </a:tc>
                <a:tc>
                  <a:txBody>
                    <a:bodyPr/>
                    <a:lstStyle/>
                    <a:p>
                      <a:pPr algn="ctr" fontAlgn="b">
                        <a:buNone/>
                      </a:pPr>
                      <a:r>
                        <a:rPr lang="en-US" sz="1200" b="1" i="0" u="none" strike="noStrike" dirty="0">
                          <a:solidFill>
                            <a:schemeClr val="bg1"/>
                          </a:solidFill>
                          <a:effectLst/>
                          <a:latin typeface="Times New Roman" panose="02020603050405020304" pitchFamily="18" charset="0"/>
                          <a:cs typeface="Times New Roman" panose="02020603050405020304" pitchFamily="18" charset="0"/>
                        </a:rPr>
                        <a:t>FDR</a:t>
                      </a:r>
                    </a:p>
                  </a:txBody>
                  <a:tcPr marL="4763" marR="4763" marT="4763" marB="0" anchor="ctr"/>
                </a:tc>
                <a:extLst>
                  <a:ext uri="{0D108BD9-81ED-4DB2-BD59-A6C34878D82A}">
                    <a16:rowId xmlns:a16="http://schemas.microsoft.com/office/drawing/2014/main" val="2110821908"/>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SOAT2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1.618953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1.293461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2.026353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2.59E-05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0.261049</a:t>
                      </a:r>
                    </a:p>
                  </a:txBody>
                  <a:tcPr marL="4763" marR="4763" marT="4763" marB="0" anchor="ctr"/>
                </a:tc>
                <a:extLst>
                  <a:ext uri="{0D108BD9-81ED-4DB2-BD59-A6C34878D82A}">
                    <a16:rowId xmlns:a16="http://schemas.microsoft.com/office/drawing/2014/main" val="3198837037"/>
                  </a:ext>
                </a:extLst>
              </a:tr>
              <a:tr h="370840">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STATH</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176.8973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15.85178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1974.079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2.61E-05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0.261049</a:t>
                      </a:r>
                    </a:p>
                  </a:txBody>
                  <a:tcPr marL="4763" marR="4763" marT="4763" marB="0" anchor="ctr"/>
                </a:tc>
                <a:extLst>
                  <a:ext uri="{0D108BD9-81ED-4DB2-BD59-A6C34878D82A}">
                    <a16:rowId xmlns:a16="http://schemas.microsoft.com/office/drawing/2014/main" val="1112205748"/>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CDC73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0.36683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0.219892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0.611959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1.23E-04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0.275813</a:t>
                      </a:r>
                    </a:p>
                  </a:txBody>
                  <a:tcPr marL="4763" marR="4763" marT="4763" marB="0" anchor="ctr"/>
                </a:tc>
                <a:extLst>
                  <a:ext uri="{0D108BD9-81ED-4DB2-BD59-A6C34878D82A}">
                    <a16:rowId xmlns:a16="http://schemas.microsoft.com/office/drawing/2014/main" val="4241838714"/>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GUCA1C</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3.176344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1.760364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5.731295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1.24E-04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0.275813</a:t>
                      </a:r>
                    </a:p>
                  </a:txBody>
                  <a:tcPr marL="4763" marR="4763" marT="4763" marB="0" anchor="ctr"/>
                </a:tc>
                <a:extLst>
                  <a:ext uri="{0D108BD9-81ED-4DB2-BD59-A6C34878D82A}">
                    <a16:rowId xmlns:a16="http://schemas.microsoft.com/office/drawing/2014/main" val="2805949363"/>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PTPRN</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1.211702</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1.100345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1.33433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9.46E-05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0.275813</a:t>
                      </a:r>
                    </a:p>
                  </a:txBody>
                  <a:tcPr marL="4763" marR="4763" marT="4763" marB="0" anchor="ctr"/>
                </a:tc>
                <a:extLst>
                  <a:ext uri="{0D108BD9-81ED-4DB2-BD59-A6C34878D82A}">
                    <a16:rowId xmlns:a16="http://schemas.microsoft.com/office/drawing/2014/main" val="1265669087"/>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C21orf96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2.442283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1.556734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3.831576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1.02E-04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0.275813</a:t>
                      </a:r>
                    </a:p>
                  </a:txBody>
                  <a:tcPr marL="4763" marR="4763" marT="4763" marB="0" anchor="ctr"/>
                </a:tc>
                <a:extLst>
                  <a:ext uri="{0D108BD9-81ED-4DB2-BD59-A6C34878D82A}">
                    <a16:rowId xmlns:a16="http://schemas.microsoft.com/office/drawing/2014/main" val="764896594"/>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CHRM5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1.364823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1.169868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1.592265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7.65E-05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0.275813</a:t>
                      </a:r>
                    </a:p>
                  </a:txBody>
                  <a:tcPr marL="4763" marR="4763" marT="4763" marB="0" anchor="ctr"/>
                </a:tc>
                <a:extLst>
                  <a:ext uri="{0D108BD9-81ED-4DB2-BD59-A6C34878D82A}">
                    <a16:rowId xmlns:a16="http://schemas.microsoft.com/office/drawing/2014/main" val="1234325702"/>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PTPRN2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1.615105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1.274721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2.04638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7.19E-05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0.275813</a:t>
                      </a:r>
                    </a:p>
                  </a:txBody>
                  <a:tcPr marL="4763" marR="4763" marT="4763" marB="0" anchor="ctr"/>
                </a:tc>
                <a:extLst>
                  <a:ext uri="{0D108BD9-81ED-4DB2-BD59-A6C34878D82A}">
                    <a16:rowId xmlns:a16="http://schemas.microsoft.com/office/drawing/2014/main" val="2763743953"/>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OR2AG1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24.45167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5.081436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117.6605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6.67E-05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0.275813</a:t>
                      </a:r>
                    </a:p>
                  </a:txBody>
                  <a:tcPr marL="4763" marR="4763" marT="4763" marB="0" anchor="ctr"/>
                </a:tc>
                <a:extLst>
                  <a:ext uri="{0D108BD9-81ED-4DB2-BD59-A6C34878D82A}">
                    <a16:rowId xmlns:a16="http://schemas.microsoft.com/office/drawing/2014/main" val="3653239285"/>
                  </a:ext>
                </a:extLst>
              </a:tr>
              <a:tr h="370840">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NRXN3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1.23055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1.102854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1.373031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2.06E-04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0.289626</a:t>
                      </a:r>
                    </a:p>
                  </a:txBody>
                  <a:tcPr marL="4763" marR="4763" marT="4763" marB="0" anchor="ctr"/>
                </a:tc>
                <a:extLst>
                  <a:ext uri="{0D108BD9-81ED-4DB2-BD59-A6C34878D82A}">
                    <a16:rowId xmlns:a16="http://schemas.microsoft.com/office/drawing/2014/main" val="1655162851"/>
                  </a:ext>
                </a:extLst>
              </a:tr>
            </a:tbl>
          </a:graphicData>
        </a:graphic>
      </p:graphicFrame>
    </p:spTree>
    <p:extLst>
      <p:ext uri="{BB962C8B-B14F-4D97-AF65-F5344CB8AC3E}">
        <p14:creationId xmlns:p14="http://schemas.microsoft.com/office/powerpoint/2010/main" val="67205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B71D-3283-6F4B-F0DF-CF5419824B10}"/>
              </a:ext>
            </a:extLst>
          </p:cNvPr>
          <p:cNvSpPr>
            <a:spLocks noGrp="1"/>
          </p:cNvSpPr>
          <p:nvPr>
            <p:ph type="title"/>
          </p:nvPr>
        </p:nvSpPr>
        <p:spPr/>
        <p:txBody>
          <a:bodyPr/>
          <a:lstStyle/>
          <a:p>
            <a:r>
              <a:rPr lang="en-US" dirty="0"/>
              <a:t>Supplementary: ARSI Expression</a:t>
            </a:r>
          </a:p>
        </p:txBody>
      </p:sp>
      <p:graphicFrame>
        <p:nvGraphicFramePr>
          <p:cNvPr id="4" name="Content Placeholder 3">
            <a:extLst>
              <a:ext uri="{FF2B5EF4-FFF2-40B4-BE49-F238E27FC236}">
                <a16:creationId xmlns:a16="http://schemas.microsoft.com/office/drawing/2014/main" id="{5A5EC8F7-4B12-14C7-5501-7EAC2507DDD2}"/>
              </a:ext>
            </a:extLst>
          </p:cNvPr>
          <p:cNvGraphicFramePr>
            <a:graphicFrameLocks noGrp="1"/>
          </p:cNvGraphicFramePr>
          <p:nvPr>
            <p:ph idx="1"/>
            <p:extLst>
              <p:ext uri="{D42A27DB-BD31-4B8C-83A1-F6EECF244321}">
                <p14:modId xmlns:p14="http://schemas.microsoft.com/office/powerpoint/2010/main" val="4098071829"/>
              </p:ext>
            </p:extLst>
          </p:nvPr>
        </p:nvGraphicFramePr>
        <p:xfrm>
          <a:off x="838197" y="1793257"/>
          <a:ext cx="10515603" cy="407924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1564631192"/>
                    </a:ext>
                  </a:extLst>
                </a:gridCol>
                <a:gridCol w="1502229">
                  <a:extLst>
                    <a:ext uri="{9D8B030D-6E8A-4147-A177-3AD203B41FA5}">
                      <a16:colId xmlns:a16="http://schemas.microsoft.com/office/drawing/2014/main" val="1448272067"/>
                    </a:ext>
                  </a:extLst>
                </a:gridCol>
                <a:gridCol w="1502229">
                  <a:extLst>
                    <a:ext uri="{9D8B030D-6E8A-4147-A177-3AD203B41FA5}">
                      <a16:colId xmlns:a16="http://schemas.microsoft.com/office/drawing/2014/main" val="1203223638"/>
                    </a:ext>
                  </a:extLst>
                </a:gridCol>
                <a:gridCol w="1502229">
                  <a:extLst>
                    <a:ext uri="{9D8B030D-6E8A-4147-A177-3AD203B41FA5}">
                      <a16:colId xmlns:a16="http://schemas.microsoft.com/office/drawing/2014/main" val="3296225391"/>
                    </a:ext>
                  </a:extLst>
                </a:gridCol>
                <a:gridCol w="1502229">
                  <a:extLst>
                    <a:ext uri="{9D8B030D-6E8A-4147-A177-3AD203B41FA5}">
                      <a16:colId xmlns:a16="http://schemas.microsoft.com/office/drawing/2014/main" val="4215617196"/>
                    </a:ext>
                  </a:extLst>
                </a:gridCol>
                <a:gridCol w="1502229">
                  <a:extLst>
                    <a:ext uri="{9D8B030D-6E8A-4147-A177-3AD203B41FA5}">
                      <a16:colId xmlns:a16="http://schemas.microsoft.com/office/drawing/2014/main" val="481060248"/>
                    </a:ext>
                  </a:extLst>
                </a:gridCol>
                <a:gridCol w="1502229">
                  <a:extLst>
                    <a:ext uri="{9D8B030D-6E8A-4147-A177-3AD203B41FA5}">
                      <a16:colId xmlns:a16="http://schemas.microsoft.com/office/drawing/2014/main" val="3351923375"/>
                    </a:ext>
                  </a:extLst>
                </a:gridCol>
              </a:tblGrid>
              <a:tr h="370840">
                <a:tc>
                  <a:txBody>
                    <a:bodyPr/>
                    <a:lstStyle/>
                    <a:p>
                      <a:pPr algn="ctr" rtl="0" fontAlgn="ctr">
                        <a:buNone/>
                      </a:pPr>
                      <a:r>
                        <a:rPr lang="en-US" sz="1200" b="1" i="0" u="none" strike="noStrike" dirty="0">
                          <a:solidFill>
                            <a:srgbClr val="FFFFFF"/>
                          </a:solidFill>
                          <a:effectLst/>
                          <a:latin typeface="Times New Roman" panose="02020603050405020304" pitchFamily="18" charset="0"/>
                        </a:rPr>
                        <a:t>Analysis</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Type</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HR</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LCI</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UCI</a:t>
                      </a:r>
                    </a:p>
                  </a:txBody>
                  <a:tcPr marL="4763" marR="4763" marT="4763" marB="0" anchor="ctr"/>
                </a:tc>
                <a:tc>
                  <a:txBody>
                    <a:bodyPr/>
                    <a:lstStyle/>
                    <a:p>
                      <a:pPr algn="ctr" rtl="0" fontAlgn="b">
                        <a:buNone/>
                      </a:pPr>
                      <a:r>
                        <a:rPr lang="en-US" sz="1200" b="1" i="0" u="none" strike="noStrike">
                          <a:solidFill>
                            <a:srgbClr val="FFFFFF"/>
                          </a:solidFill>
                          <a:effectLst/>
                          <a:latin typeface="Times New Roman" panose="02020603050405020304" pitchFamily="18" charset="0"/>
                        </a:rPr>
                        <a:t>PVAL</a:t>
                      </a:r>
                    </a:p>
                  </a:txBody>
                  <a:tcPr marL="4763" marR="4763" marT="4763" marB="0" anchor="ctr"/>
                </a:tc>
                <a:tc>
                  <a:txBody>
                    <a:bodyPr/>
                    <a:lstStyle/>
                    <a:p>
                      <a:pPr algn="ctr" rtl="0" fontAlgn="b">
                        <a:buNone/>
                      </a:pPr>
                      <a:r>
                        <a:rPr lang="en-US" sz="1200" b="1" i="0" u="none" strike="noStrike" dirty="0">
                          <a:solidFill>
                            <a:srgbClr val="FFFFFF"/>
                          </a:solidFill>
                          <a:effectLst/>
                          <a:latin typeface="Times New Roman" panose="02020603050405020304" pitchFamily="18" charset="0"/>
                        </a:rPr>
                        <a:t>FDR</a:t>
                      </a:r>
                    </a:p>
                  </a:txBody>
                  <a:tcPr marL="4763" marR="4763" marT="4763" marB="0" anchor="ctr"/>
                </a:tc>
                <a:extLst>
                  <a:ext uri="{0D108BD9-81ED-4DB2-BD59-A6C34878D82A}">
                    <a16:rowId xmlns:a16="http://schemas.microsoft.com/office/drawing/2014/main" val="4168540951"/>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Overall </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Univariate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1.16895</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1.06169</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1.28705</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0.00148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0.17639</a:t>
                      </a:r>
                    </a:p>
                  </a:txBody>
                  <a:tcPr marL="4763" marR="4763" marT="4763" marB="0" anchor="ctr"/>
                </a:tc>
                <a:extLst>
                  <a:ext uri="{0D108BD9-81ED-4DB2-BD59-A6C34878D82A}">
                    <a16:rowId xmlns:a16="http://schemas.microsoft.com/office/drawing/2014/main" val="483430533"/>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Mesenchymal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Univariate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1.39855</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1.17428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1.66565</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0.00017</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0.41729</a:t>
                      </a:r>
                    </a:p>
                  </a:txBody>
                  <a:tcPr marL="4763" marR="4763" marT="4763" marB="0" anchor="ctr"/>
                </a:tc>
                <a:extLst>
                  <a:ext uri="{0D108BD9-81ED-4DB2-BD59-A6C34878D82A}">
                    <a16:rowId xmlns:a16="http://schemas.microsoft.com/office/drawing/2014/main" val="3153523484"/>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Classical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Univariate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1.24562</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0.92447</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1.67835</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0.14882</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0.98821</a:t>
                      </a:r>
                    </a:p>
                  </a:txBody>
                  <a:tcPr marL="4763" marR="4763" marT="4763" marB="0" anchor="ctr"/>
                </a:tc>
                <a:extLst>
                  <a:ext uri="{0D108BD9-81ED-4DB2-BD59-A6C34878D82A}">
                    <a16:rowId xmlns:a16="http://schemas.microsoft.com/office/drawing/2014/main" val="2764288706"/>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Neural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Univariate</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1.17179</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0.88696</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1.54811</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0.26454</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0.99996</a:t>
                      </a:r>
                    </a:p>
                  </a:txBody>
                  <a:tcPr marL="4763" marR="4763" marT="4763" marB="0" anchor="ctr"/>
                </a:tc>
                <a:extLst>
                  <a:ext uri="{0D108BD9-81ED-4DB2-BD59-A6C34878D82A}">
                    <a16:rowId xmlns:a16="http://schemas.microsoft.com/office/drawing/2014/main" val="3197545109"/>
                  </a:ext>
                </a:extLst>
              </a:tr>
              <a:tr h="370840">
                <a:tc>
                  <a:txBody>
                    <a:bodyPr/>
                    <a:lstStyle/>
                    <a:p>
                      <a:pPr algn="ctr" rtl="0" fontAlgn="ctr">
                        <a:buNone/>
                      </a:pPr>
                      <a:r>
                        <a:rPr lang="en-US" sz="1200" b="0" i="0" u="none" strike="noStrike" dirty="0" err="1">
                          <a:solidFill>
                            <a:srgbClr val="000000"/>
                          </a:solidFill>
                          <a:effectLst/>
                          <a:latin typeface="Times New Roman" panose="02020603050405020304" pitchFamily="18" charset="0"/>
                        </a:rPr>
                        <a:t>Proneural</a:t>
                      </a:r>
                      <a:endParaRPr lang="en-US" sz="1200" b="0" i="0" u="none" strike="noStrike" dirty="0">
                        <a:solidFill>
                          <a:srgbClr val="000000"/>
                        </a:solidFill>
                        <a:effectLst/>
                        <a:latin typeface="Times New Roman" panose="02020603050405020304" pitchFamily="18" charset="0"/>
                      </a:endParaRP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Univariate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1.03408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0.8546</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1.25126</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0.73044</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0.93231</a:t>
                      </a:r>
                    </a:p>
                  </a:txBody>
                  <a:tcPr marL="4763" marR="4763" marT="4763" marB="0" anchor="ctr"/>
                </a:tc>
                <a:extLst>
                  <a:ext uri="{0D108BD9-81ED-4DB2-BD59-A6C34878D82A}">
                    <a16:rowId xmlns:a16="http://schemas.microsoft.com/office/drawing/2014/main" val="3620304691"/>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Overall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Multivariate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1.13295</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1.02452</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1.25286</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0.01502</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0.54655</a:t>
                      </a:r>
                    </a:p>
                  </a:txBody>
                  <a:tcPr marL="4763" marR="4763" marT="4763" marB="0" anchor="ctr"/>
                </a:tc>
                <a:extLst>
                  <a:ext uri="{0D108BD9-81ED-4DB2-BD59-A6C34878D82A}">
                    <a16:rowId xmlns:a16="http://schemas.microsoft.com/office/drawing/2014/main" val="1269673997"/>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Mesenchymal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Multivariate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1.39674</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1.16841</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1.66969</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0.00024</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0.38676</a:t>
                      </a:r>
                    </a:p>
                  </a:txBody>
                  <a:tcPr marL="4763" marR="4763" marT="4763" marB="0" anchor="ctr"/>
                </a:tc>
                <a:extLst>
                  <a:ext uri="{0D108BD9-81ED-4DB2-BD59-A6C34878D82A}">
                    <a16:rowId xmlns:a16="http://schemas.microsoft.com/office/drawing/2014/main" val="3319297111"/>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Classical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Multivariate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1.24898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0.92429</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1.68772</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0.14778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0.95531</a:t>
                      </a:r>
                    </a:p>
                  </a:txBody>
                  <a:tcPr marL="4763" marR="4763" marT="4763" marB="0" anchor="ctr"/>
                </a:tc>
                <a:extLst>
                  <a:ext uri="{0D108BD9-81ED-4DB2-BD59-A6C34878D82A}">
                    <a16:rowId xmlns:a16="http://schemas.microsoft.com/office/drawing/2014/main" val="3486004572"/>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rPr>
                        <a:t>Neural</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Multivariate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1.05729</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0.77468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1.44301</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0.72553</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0.99999</a:t>
                      </a:r>
                    </a:p>
                  </a:txBody>
                  <a:tcPr marL="4763" marR="4763" marT="4763" marB="0" anchor="ctr"/>
                </a:tc>
                <a:extLst>
                  <a:ext uri="{0D108BD9-81ED-4DB2-BD59-A6C34878D82A}">
                    <a16:rowId xmlns:a16="http://schemas.microsoft.com/office/drawing/2014/main" val="1263590200"/>
                  </a:ext>
                </a:extLst>
              </a:tr>
              <a:tr h="370840">
                <a:tc>
                  <a:txBody>
                    <a:bodyPr/>
                    <a:lstStyle/>
                    <a:p>
                      <a:pPr algn="ctr" rtl="0" fontAlgn="ctr">
                        <a:buNone/>
                      </a:pPr>
                      <a:r>
                        <a:rPr lang="en-US" sz="1200" b="0" i="0" u="none" strike="noStrike" dirty="0" err="1">
                          <a:solidFill>
                            <a:srgbClr val="000000"/>
                          </a:solidFill>
                          <a:effectLst/>
                          <a:latin typeface="Times New Roman" panose="02020603050405020304" pitchFamily="18" charset="0"/>
                        </a:rPr>
                        <a:t>Proneural</a:t>
                      </a:r>
                      <a:endParaRPr lang="en-US" sz="1200" b="0" i="0" u="none" strike="noStrike" dirty="0">
                        <a:solidFill>
                          <a:srgbClr val="000000"/>
                        </a:solidFill>
                        <a:effectLst/>
                        <a:latin typeface="Times New Roman" panose="02020603050405020304" pitchFamily="18" charset="0"/>
                      </a:endParaRP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Multivariate</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0.92918</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0.7483</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1.15379</a:t>
                      </a:r>
                    </a:p>
                  </a:txBody>
                  <a:tcPr marL="4763" marR="4763" marT="4763" marB="0" anchor="ctr"/>
                </a:tc>
                <a:tc>
                  <a:txBody>
                    <a:bodyPr/>
                    <a:lstStyle/>
                    <a:p>
                      <a:pPr algn="ctr" rtl="0" fontAlgn="b">
                        <a:buNone/>
                      </a:pPr>
                      <a:r>
                        <a:rPr lang="en-US" sz="1200" b="0" i="0" u="none" strike="noStrike">
                          <a:solidFill>
                            <a:srgbClr val="000000"/>
                          </a:solidFill>
                          <a:effectLst/>
                          <a:latin typeface="Times New Roman" panose="02020603050405020304" pitchFamily="18" charset="0"/>
                        </a:rPr>
                        <a:t>0.50609</a:t>
                      </a:r>
                    </a:p>
                  </a:txBody>
                  <a:tcPr marL="4763" marR="4763" marT="4763" marB="0" anchor="ctr"/>
                </a:tc>
                <a:tc>
                  <a:txBody>
                    <a:bodyPr/>
                    <a:lstStyle/>
                    <a:p>
                      <a:pPr algn="ctr" rtl="0" fontAlgn="b">
                        <a:buNone/>
                      </a:pPr>
                      <a:r>
                        <a:rPr lang="en-US" sz="1200" b="0" i="0" u="none" strike="noStrike" dirty="0">
                          <a:solidFill>
                            <a:srgbClr val="000000"/>
                          </a:solidFill>
                          <a:effectLst/>
                          <a:latin typeface="Times New Roman" panose="02020603050405020304" pitchFamily="18" charset="0"/>
                        </a:rPr>
                        <a:t>0.9258</a:t>
                      </a:r>
                    </a:p>
                  </a:txBody>
                  <a:tcPr marL="4763" marR="4763" marT="4763" marB="0" anchor="ctr"/>
                </a:tc>
                <a:extLst>
                  <a:ext uri="{0D108BD9-81ED-4DB2-BD59-A6C34878D82A}">
                    <a16:rowId xmlns:a16="http://schemas.microsoft.com/office/drawing/2014/main" val="548227528"/>
                  </a:ext>
                </a:extLst>
              </a:tr>
            </a:tbl>
          </a:graphicData>
        </a:graphic>
      </p:graphicFrame>
    </p:spTree>
    <p:extLst>
      <p:ext uri="{BB962C8B-B14F-4D97-AF65-F5344CB8AC3E}">
        <p14:creationId xmlns:p14="http://schemas.microsoft.com/office/powerpoint/2010/main" val="1189704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691AD-A3CB-5831-0BE7-CC927BA0CBE9}"/>
              </a:ext>
            </a:extLst>
          </p:cNvPr>
          <p:cNvSpPr>
            <a:spLocks noGrp="1"/>
          </p:cNvSpPr>
          <p:nvPr>
            <p:ph type="title"/>
          </p:nvPr>
        </p:nvSpPr>
        <p:spPr/>
        <p:txBody>
          <a:bodyPr/>
          <a:lstStyle/>
          <a:p>
            <a:r>
              <a:rPr lang="en-US" dirty="0"/>
              <a:t>Supplementary: Methylation Probes Data</a:t>
            </a:r>
          </a:p>
        </p:txBody>
      </p:sp>
      <p:graphicFrame>
        <p:nvGraphicFramePr>
          <p:cNvPr id="4" name="Table 3">
            <a:extLst>
              <a:ext uri="{FF2B5EF4-FFF2-40B4-BE49-F238E27FC236}">
                <a16:creationId xmlns:a16="http://schemas.microsoft.com/office/drawing/2014/main" id="{2E41CB7B-45DE-610A-9B7D-CCCE54B24DC6}"/>
              </a:ext>
            </a:extLst>
          </p:cNvPr>
          <p:cNvGraphicFramePr>
            <a:graphicFrameLocks noGrp="1"/>
          </p:cNvGraphicFramePr>
          <p:nvPr>
            <p:extLst>
              <p:ext uri="{D42A27DB-BD31-4B8C-83A1-F6EECF244321}">
                <p14:modId xmlns:p14="http://schemas.microsoft.com/office/powerpoint/2010/main" val="1881668997"/>
              </p:ext>
            </p:extLst>
          </p:nvPr>
        </p:nvGraphicFramePr>
        <p:xfrm>
          <a:off x="838202" y="1541601"/>
          <a:ext cx="10515598" cy="4820920"/>
        </p:xfrm>
        <a:graphic>
          <a:graphicData uri="http://schemas.openxmlformats.org/drawingml/2006/table">
            <a:tbl>
              <a:tblPr firstRow="1" bandRow="1">
                <a:tableStyleId>{5C22544A-7EE6-4342-B048-85BDC9FD1C3A}</a:tableStyleId>
              </a:tblPr>
              <a:tblGrid>
                <a:gridCol w="1045002">
                  <a:extLst>
                    <a:ext uri="{9D8B030D-6E8A-4147-A177-3AD203B41FA5}">
                      <a16:colId xmlns:a16="http://schemas.microsoft.com/office/drawing/2014/main" val="2595120008"/>
                    </a:ext>
                  </a:extLst>
                </a:gridCol>
                <a:gridCol w="1045002">
                  <a:extLst>
                    <a:ext uri="{9D8B030D-6E8A-4147-A177-3AD203B41FA5}">
                      <a16:colId xmlns:a16="http://schemas.microsoft.com/office/drawing/2014/main" val="850226757"/>
                    </a:ext>
                  </a:extLst>
                </a:gridCol>
                <a:gridCol w="1045002">
                  <a:extLst>
                    <a:ext uri="{9D8B030D-6E8A-4147-A177-3AD203B41FA5}">
                      <a16:colId xmlns:a16="http://schemas.microsoft.com/office/drawing/2014/main" val="1993148500"/>
                    </a:ext>
                  </a:extLst>
                </a:gridCol>
                <a:gridCol w="1045002">
                  <a:extLst>
                    <a:ext uri="{9D8B030D-6E8A-4147-A177-3AD203B41FA5}">
                      <a16:colId xmlns:a16="http://schemas.microsoft.com/office/drawing/2014/main" val="3484624067"/>
                    </a:ext>
                  </a:extLst>
                </a:gridCol>
                <a:gridCol w="1045002">
                  <a:extLst>
                    <a:ext uri="{9D8B030D-6E8A-4147-A177-3AD203B41FA5}">
                      <a16:colId xmlns:a16="http://schemas.microsoft.com/office/drawing/2014/main" val="4238246535"/>
                    </a:ext>
                  </a:extLst>
                </a:gridCol>
                <a:gridCol w="1045002">
                  <a:extLst>
                    <a:ext uri="{9D8B030D-6E8A-4147-A177-3AD203B41FA5}">
                      <a16:colId xmlns:a16="http://schemas.microsoft.com/office/drawing/2014/main" val="2618461827"/>
                    </a:ext>
                  </a:extLst>
                </a:gridCol>
                <a:gridCol w="1045002">
                  <a:extLst>
                    <a:ext uri="{9D8B030D-6E8A-4147-A177-3AD203B41FA5}">
                      <a16:colId xmlns:a16="http://schemas.microsoft.com/office/drawing/2014/main" val="929649795"/>
                    </a:ext>
                  </a:extLst>
                </a:gridCol>
                <a:gridCol w="1045002">
                  <a:extLst>
                    <a:ext uri="{9D8B030D-6E8A-4147-A177-3AD203B41FA5}">
                      <a16:colId xmlns:a16="http://schemas.microsoft.com/office/drawing/2014/main" val="2996605127"/>
                    </a:ext>
                  </a:extLst>
                </a:gridCol>
                <a:gridCol w="1045002">
                  <a:extLst>
                    <a:ext uri="{9D8B030D-6E8A-4147-A177-3AD203B41FA5}">
                      <a16:colId xmlns:a16="http://schemas.microsoft.com/office/drawing/2014/main" val="3147892325"/>
                    </a:ext>
                  </a:extLst>
                </a:gridCol>
                <a:gridCol w="1110580">
                  <a:extLst>
                    <a:ext uri="{9D8B030D-6E8A-4147-A177-3AD203B41FA5}">
                      <a16:colId xmlns:a16="http://schemas.microsoft.com/office/drawing/2014/main" val="1221189093"/>
                    </a:ext>
                  </a:extLst>
                </a:gridCol>
              </a:tblGrid>
              <a:tr h="370840">
                <a:tc>
                  <a:txBody>
                    <a:bodyPr/>
                    <a:lstStyle/>
                    <a:p>
                      <a:pPr algn="ctr" rtl="0" fontAlgn="ctr">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CpG ID</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Correlation</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P-value</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FDR</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Slope</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Mean</a:t>
                      </a:r>
                    </a:p>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ARSI High</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Mean </a:t>
                      </a:r>
                    </a:p>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ARSI Low</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Position</a:t>
                      </a:r>
                    </a:p>
                  </a:txBody>
                  <a:tcPr marL="4763" marR="4763" marT="4763" marB="0" anchor="ctr"/>
                </a:tc>
                <a:tc>
                  <a:txBody>
                    <a:bodyPr/>
                    <a:lstStyle/>
                    <a:p>
                      <a:pPr algn="ctr" fontAlgn="b">
                        <a:buNone/>
                      </a:pPr>
                      <a:r>
                        <a:rPr lang="en-US" sz="1200" b="1" i="0" u="none" strike="noStrike" dirty="0">
                          <a:solidFill>
                            <a:schemeClr val="bg2"/>
                          </a:solidFill>
                          <a:effectLst/>
                          <a:latin typeface="Times New Roman" panose="02020603050405020304" pitchFamily="18" charset="0"/>
                          <a:cs typeface="Times New Roman" panose="02020603050405020304" pitchFamily="18" charset="0"/>
                        </a:rPr>
                        <a:t>Island/Shore</a:t>
                      </a:r>
                    </a:p>
                  </a:txBody>
                  <a:tcPr marL="4763" marR="4763" marT="4763" marB="0" anchor="ctr"/>
                </a:tc>
                <a:tc>
                  <a:txBody>
                    <a:bodyPr/>
                    <a:lstStyle/>
                    <a:p>
                      <a:pPr algn="ctr" fontAlgn="b">
                        <a:buNone/>
                      </a:pPr>
                      <a:r>
                        <a:rPr lang="en-US" sz="1200" b="1" i="0" u="none" strike="noStrike" dirty="0" err="1">
                          <a:solidFill>
                            <a:schemeClr val="bg2"/>
                          </a:solidFill>
                          <a:effectLst/>
                          <a:latin typeface="Times New Roman" panose="02020603050405020304" pitchFamily="18" charset="0"/>
                          <a:cs typeface="Times New Roman" panose="02020603050405020304" pitchFamily="18" charset="0"/>
                        </a:rPr>
                        <a:t>UCSC_RefGene_Group</a:t>
                      </a:r>
                      <a:endParaRPr lang="en-US" sz="1200" b="1" i="0" u="none" strike="noStrike" dirty="0">
                        <a:solidFill>
                          <a:schemeClr val="bg2"/>
                        </a:solidFill>
                        <a:effectLst/>
                        <a:latin typeface="Times New Roman" panose="02020603050405020304" pitchFamily="18" charset="0"/>
                        <a:cs typeface="Times New Roman" panose="02020603050405020304" pitchFamily="18" charset="0"/>
                      </a:endParaRPr>
                    </a:p>
                  </a:txBody>
                  <a:tcPr marL="4763" marR="4763" marT="4763" marB="0" anchor="ctr"/>
                </a:tc>
                <a:extLst>
                  <a:ext uri="{0D108BD9-81ED-4DB2-BD59-A6C34878D82A}">
                    <a16:rowId xmlns:a16="http://schemas.microsoft.com/office/drawing/2014/main" val="2612065203"/>
                  </a:ext>
                </a:extLst>
              </a:tr>
              <a:tr h="370840">
                <a:tc>
                  <a:txBody>
                    <a:bodyPr/>
                    <a:lstStyle/>
                    <a:p>
                      <a:pPr algn="ctr" rtl="0" fontAlgn="ctr">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cg12281328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-0.39625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0.001085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0.013017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-5.99321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0.656769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0.723245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1stExon</a:t>
                      </a:r>
                    </a:p>
                  </a:txBody>
                  <a:tcPr marL="4763" marR="4763" marT="4763" marB="0" anchor="ctr"/>
                </a:tc>
                <a:extLst>
                  <a:ext uri="{0D108BD9-81ED-4DB2-BD59-A6C34878D82A}">
                    <a16:rowId xmlns:a16="http://schemas.microsoft.com/office/drawing/2014/main" val="1179273459"/>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cg06873106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-0.29085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0.018749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0.112493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-302.786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0.989353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0.990145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365662357"/>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cg10941067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0.252179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0.042707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0.170829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6.634206</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0.858031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0.820479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2131498557"/>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cg03405473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0.221516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0.076168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0.228503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2.855841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0.6232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0.527309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North Shore</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2253905088"/>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cg25652824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-0.16292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0.194735</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0.356951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-91.1673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0.978459</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0.979027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North Shore</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3943250632"/>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cg14105467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-0.15818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0.208222</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0.356951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-5.65911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0.790097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0.789018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North Shore</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3'UTR</a:t>
                      </a:r>
                    </a:p>
                  </a:txBody>
                  <a:tcPr marL="4763" marR="4763" marT="4763" marB="0" anchor="ctr"/>
                </a:tc>
                <a:extLst>
                  <a:ext uri="{0D108BD9-81ED-4DB2-BD59-A6C34878D82A}">
                    <a16:rowId xmlns:a16="http://schemas.microsoft.com/office/drawing/2014/main" val="4155794781"/>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cg16633129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0.166043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0.186199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0.356951</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6.257584</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0.852338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0.836482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3596651021"/>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cg20873205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0.12922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0.304939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0.406585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4.98114</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0.915775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0.8966</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435432228"/>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cg26530201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-0.13441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0.28576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0.406585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-7.42263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0.078653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0.084233</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South Shore</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TSS200</a:t>
                      </a:r>
                    </a:p>
                  </a:txBody>
                  <a:tcPr marL="4763" marR="4763" marT="4763" marB="0" anchor="ctr"/>
                </a:tc>
                <a:extLst>
                  <a:ext uri="{0D108BD9-81ED-4DB2-BD59-A6C34878D82A}">
                    <a16:rowId xmlns:a16="http://schemas.microsoft.com/office/drawing/2014/main" val="3448857785"/>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cg26292378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0.09517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0.450781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0.540937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3.957983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0.083622</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0.081027</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South Shore</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TSS200</a:t>
                      </a:r>
                    </a:p>
                  </a:txBody>
                  <a:tcPr marL="4763" marR="4763" marT="4763" marB="0" anchor="ctr"/>
                </a:tc>
                <a:extLst>
                  <a:ext uri="{0D108BD9-81ED-4DB2-BD59-A6C34878D82A}">
                    <a16:rowId xmlns:a16="http://schemas.microsoft.com/office/drawing/2014/main" val="204085517"/>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cg02613713</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0.074428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0.555706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0.555706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6.042511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0.972075</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0.963288</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Island</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497223350"/>
                  </a:ext>
                </a:extLst>
              </a:tr>
              <a:tr h="370840">
                <a:tc>
                  <a:txBody>
                    <a:bodyPr/>
                    <a:lstStyle/>
                    <a:p>
                      <a:pPr algn="ctr" rtl="0" fontAlgn="ctr">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cg10607557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-0.07921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0.530509</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0.555706</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-1.24661</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0.869347</a:t>
                      </a:r>
                    </a:p>
                  </a:txBody>
                  <a:tcPr marL="4763" marR="4763" marT="4763" marB="0" anchor="ctr"/>
                </a:tc>
                <a:tc>
                  <a:txBody>
                    <a:bodyPr/>
                    <a:lstStyle/>
                    <a:p>
                      <a:pPr algn="ctr" fontAlgn="b">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0.841918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1.5E+08</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North Shore</a:t>
                      </a:r>
                    </a:p>
                  </a:txBody>
                  <a:tcPr marL="4763" marR="4763" marT="4763" marB="0" anchor="ctr"/>
                </a:tc>
                <a:tc>
                  <a:txBody>
                    <a:bodyPr/>
                    <a:lstStyle/>
                    <a:p>
                      <a:pPr algn="ctr" fontAlgn="b">
                        <a:buNone/>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Body</a:t>
                      </a:r>
                    </a:p>
                  </a:txBody>
                  <a:tcPr marL="4763" marR="4763" marT="4763" marB="0" anchor="ctr"/>
                </a:tc>
                <a:extLst>
                  <a:ext uri="{0D108BD9-81ED-4DB2-BD59-A6C34878D82A}">
                    <a16:rowId xmlns:a16="http://schemas.microsoft.com/office/drawing/2014/main" val="4239134551"/>
                  </a:ext>
                </a:extLst>
              </a:tr>
            </a:tbl>
          </a:graphicData>
        </a:graphic>
      </p:graphicFrame>
    </p:spTree>
    <p:extLst>
      <p:ext uri="{BB962C8B-B14F-4D97-AF65-F5344CB8AC3E}">
        <p14:creationId xmlns:p14="http://schemas.microsoft.com/office/powerpoint/2010/main" val="3795769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2276</TotalTime>
  <Words>2115</Words>
  <Application>Microsoft Office PowerPoint</Application>
  <PresentationFormat>Widescreen</PresentationFormat>
  <Paragraphs>746</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Times New Roman</vt:lpstr>
      <vt:lpstr>Office Theme</vt:lpstr>
      <vt:lpstr>ARSI as a potential novel biomarker in Glioblastomas</vt:lpstr>
      <vt:lpstr>Glioblastoma</vt:lpstr>
      <vt:lpstr>Methods</vt:lpstr>
      <vt:lpstr>Univariate Analysis</vt:lpstr>
      <vt:lpstr>Clinical Analysis and Multivariate Analysis </vt:lpstr>
      <vt:lpstr>ARSI Expression</vt:lpstr>
      <vt:lpstr>Kaplan-Meier Survival Curves: by Subtype</vt:lpstr>
      <vt:lpstr>Methylation Analysis</vt:lpstr>
      <vt:lpstr>Methylation Scatterplot of cg12281328</vt:lpstr>
      <vt:lpstr>CNV Amplification on Survival Data</vt:lpstr>
      <vt:lpstr>Panels for Mesenchymal and ECM Genes</vt:lpstr>
      <vt:lpstr>RPPA</vt:lpstr>
      <vt:lpstr>Conclusion and Clinical Implications</vt:lpstr>
      <vt:lpstr>Limitations and Further Research</vt:lpstr>
      <vt:lpstr>References</vt:lpstr>
      <vt:lpstr>Supplementary: Datasets used</vt:lpstr>
      <vt:lpstr>Supplementary: Univariate Analysis</vt:lpstr>
      <vt:lpstr>Supplementary: Multivariate Analysis</vt:lpstr>
      <vt:lpstr>Supplementary: ARSI Expression</vt:lpstr>
      <vt:lpstr>Supplementary: Methylation Probes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Ricketts, Chyi</dc:creator>
  <cp:lastModifiedBy>Ricketts, Chyi</cp:lastModifiedBy>
  <cp:revision>8</cp:revision>
  <dcterms:created xsi:type="dcterms:W3CDTF">2025-11-30T17:53:18Z</dcterms:created>
  <dcterms:modified xsi:type="dcterms:W3CDTF">2025-12-05T15:26:51Z</dcterms:modified>
</cp:coreProperties>
</file>